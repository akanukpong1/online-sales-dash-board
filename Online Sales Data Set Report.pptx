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69" r:id="rId4"/>
    <p:sldId id="270" r:id="rId5"/>
    <p:sldId id="257" r:id="rId6"/>
    <p:sldId id="278" r:id="rId7"/>
    <p:sldId id="279" r:id="rId8"/>
    <p:sldId id="280" r:id="rId9"/>
    <p:sldId id="281" r:id="rId10"/>
    <p:sldId id="282" r:id="rId11"/>
    <p:sldId id="283" r:id="rId12"/>
    <p:sldId id="284" r:id="rId13"/>
    <p:sldId id="285" r:id="rId14"/>
    <p:sldId id="275" r:id="rId15"/>
    <p:sldId id="28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6" d="100"/>
          <a:sy n="66" d="100"/>
        </p:scale>
        <p:origin x="66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38F31-D5C2-4060-AD28-9201AB14E5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91BC74-6E48-49EF-B08F-BA2B9FD61B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679C89-0EC1-4766-9C1F-FDC86890B2B3}"/>
              </a:ext>
            </a:extLst>
          </p:cNvPr>
          <p:cNvSpPr>
            <a:spLocks noGrp="1"/>
          </p:cNvSpPr>
          <p:nvPr>
            <p:ph type="dt" sz="half" idx="10"/>
          </p:nvPr>
        </p:nvSpPr>
        <p:spPr/>
        <p:txBody>
          <a:bodyPr/>
          <a:lstStyle/>
          <a:p>
            <a:fld id="{8256827F-5C44-4A8C-84B9-725BE684F16A}" type="datetimeFigureOut">
              <a:rPr lang="en-US" smtClean="0"/>
              <a:t>1/25/2026</a:t>
            </a:fld>
            <a:endParaRPr lang="en-US"/>
          </a:p>
        </p:txBody>
      </p:sp>
      <p:sp>
        <p:nvSpPr>
          <p:cNvPr id="5" name="Footer Placeholder 4">
            <a:extLst>
              <a:ext uri="{FF2B5EF4-FFF2-40B4-BE49-F238E27FC236}">
                <a16:creationId xmlns:a16="http://schemas.microsoft.com/office/drawing/2014/main" id="{DABDF946-41B6-471F-959F-B59A8B27C5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33FF5-F919-42DF-9975-11F85F5DF21E}"/>
              </a:ext>
            </a:extLst>
          </p:cNvPr>
          <p:cNvSpPr>
            <a:spLocks noGrp="1"/>
          </p:cNvSpPr>
          <p:nvPr>
            <p:ph type="sldNum" sz="quarter" idx="12"/>
          </p:nvPr>
        </p:nvSpPr>
        <p:spPr/>
        <p:txBody>
          <a:bodyPr/>
          <a:lstStyle/>
          <a:p>
            <a:fld id="{F92427C9-8CBF-4FCF-85FF-AC0B60D7111E}" type="slidenum">
              <a:rPr lang="en-US" smtClean="0"/>
              <a:t>‹#›</a:t>
            </a:fld>
            <a:endParaRPr lang="en-US"/>
          </a:p>
        </p:txBody>
      </p:sp>
    </p:spTree>
    <p:extLst>
      <p:ext uri="{BB962C8B-B14F-4D97-AF65-F5344CB8AC3E}">
        <p14:creationId xmlns:p14="http://schemas.microsoft.com/office/powerpoint/2010/main" val="4276835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DDD8C0-FF71-4297-A54F-A0DC1E1094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BDD483F-C612-4477-BFBB-DF0CC2ABFE1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32A1DA-391B-4688-853F-8109ED06F5D9}"/>
              </a:ext>
            </a:extLst>
          </p:cNvPr>
          <p:cNvSpPr>
            <a:spLocks noGrp="1"/>
          </p:cNvSpPr>
          <p:nvPr>
            <p:ph type="dt" sz="half" idx="10"/>
          </p:nvPr>
        </p:nvSpPr>
        <p:spPr/>
        <p:txBody>
          <a:bodyPr/>
          <a:lstStyle/>
          <a:p>
            <a:fld id="{8256827F-5C44-4A8C-84B9-725BE684F16A}" type="datetimeFigureOut">
              <a:rPr lang="en-US" smtClean="0"/>
              <a:t>1/25/2026</a:t>
            </a:fld>
            <a:endParaRPr lang="en-US"/>
          </a:p>
        </p:txBody>
      </p:sp>
      <p:sp>
        <p:nvSpPr>
          <p:cNvPr id="5" name="Footer Placeholder 4">
            <a:extLst>
              <a:ext uri="{FF2B5EF4-FFF2-40B4-BE49-F238E27FC236}">
                <a16:creationId xmlns:a16="http://schemas.microsoft.com/office/drawing/2014/main" id="{55F7D940-3F54-45D5-A9A6-D91ADB26B1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38D975-25B2-4D71-B094-3DA1AD6C0829}"/>
              </a:ext>
            </a:extLst>
          </p:cNvPr>
          <p:cNvSpPr>
            <a:spLocks noGrp="1"/>
          </p:cNvSpPr>
          <p:nvPr>
            <p:ph type="sldNum" sz="quarter" idx="12"/>
          </p:nvPr>
        </p:nvSpPr>
        <p:spPr/>
        <p:txBody>
          <a:bodyPr/>
          <a:lstStyle/>
          <a:p>
            <a:fld id="{F92427C9-8CBF-4FCF-85FF-AC0B60D7111E}" type="slidenum">
              <a:rPr lang="en-US" smtClean="0"/>
              <a:t>‹#›</a:t>
            </a:fld>
            <a:endParaRPr lang="en-US"/>
          </a:p>
        </p:txBody>
      </p:sp>
    </p:spTree>
    <p:extLst>
      <p:ext uri="{BB962C8B-B14F-4D97-AF65-F5344CB8AC3E}">
        <p14:creationId xmlns:p14="http://schemas.microsoft.com/office/powerpoint/2010/main" val="2947706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15E1A-CFB0-4B72-877E-3F9CDE0254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37774B-4BCD-4C31-965C-F7407C75A5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54380F2-43D5-4A4E-8635-3D05294D8D7D}"/>
              </a:ext>
            </a:extLst>
          </p:cNvPr>
          <p:cNvSpPr>
            <a:spLocks noGrp="1"/>
          </p:cNvSpPr>
          <p:nvPr>
            <p:ph type="dt" sz="half" idx="10"/>
          </p:nvPr>
        </p:nvSpPr>
        <p:spPr/>
        <p:txBody>
          <a:bodyPr/>
          <a:lstStyle/>
          <a:p>
            <a:fld id="{8256827F-5C44-4A8C-84B9-725BE684F16A}" type="datetimeFigureOut">
              <a:rPr lang="en-US" smtClean="0"/>
              <a:t>1/25/2026</a:t>
            </a:fld>
            <a:endParaRPr lang="en-US"/>
          </a:p>
        </p:txBody>
      </p:sp>
      <p:sp>
        <p:nvSpPr>
          <p:cNvPr id="5" name="Footer Placeholder 4">
            <a:extLst>
              <a:ext uri="{FF2B5EF4-FFF2-40B4-BE49-F238E27FC236}">
                <a16:creationId xmlns:a16="http://schemas.microsoft.com/office/drawing/2014/main" id="{36A17F85-4626-46F3-A400-72B5BAE3F3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E28939-B034-4F3A-BCAB-6838080EC89E}"/>
              </a:ext>
            </a:extLst>
          </p:cNvPr>
          <p:cNvSpPr>
            <a:spLocks noGrp="1"/>
          </p:cNvSpPr>
          <p:nvPr>
            <p:ph type="sldNum" sz="quarter" idx="12"/>
          </p:nvPr>
        </p:nvSpPr>
        <p:spPr/>
        <p:txBody>
          <a:bodyPr/>
          <a:lstStyle/>
          <a:p>
            <a:fld id="{F92427C9-8CBF-4FCF-85FF-AC0B60D7111E}" type="slidenum">
              <a:rPr lang="en-US" smtClean="0"/>
              <a:t>‹#›</a:t>
            </a:fld>
            <a:endParaRPr lang="en-US"/>
          </a:p>
        </p:txBody>
      </p:sp>
    </p:spTree>
    <p:extLst>
      <p:ext uri="{BB962C8B-B14F-4D97-AF65-F5344CB8AC3E}">
        <p14:creationId xmlns:p14="http://schemas.microsoft.com/office/powerpoint/2010/main" val="1049056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B941F-1730-4A16-9313-4B1F72138D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7431BF9-9882-4FC6-B504-BE93D8D8FEE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131BBB-1D71-4462-BEF8-69ED814B12F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22C30EF-7976-4D5C-B5A8-02D10F66B8B5}"/>
              </a:ext>
            </a:extLst>
          </p:cNvPr>
          <p:cNvSpPr>
            <a:spLocks noGrp="1"/>
          </p:cNvSpPr>
          <p:nvPr>
            <p:ph type="dt" sz="half" idx="10"/>
          </p:nvPr>
        </p:nvSpPr>
        <p:spPr/>
        <p:txBody>
          <a:bodyPr/>
          <a:lstStyle/>
          <a:p>
            <a:fld id="{8256827F-5C44-4A8C-84B9-725BE684F16A}" type="datetimeFigureOut">
              <a:rPr lang="en-US" smtClean="0"/>
              <a:t>1/25/2026</a:t>
            </a:fld>
            <a:endParaRPr lang="en-US"/>
          </a:p>
        </p:txBody>
      </p:sp>
      <p:sp>
        <p:nvSpPr>
          <p:cNvPr id="6" name="Footer Placeholder 5">
            <a:extLst>
              <a:ext uri="{FF2B5EF4-FFF2-40B4-BE49-F238E27FC236}">
                <a16:creationId xmlns:a16="http://schemas.microsoft.com/office/drawing/2014/main" id="{B140A205-5DBE-4A8B-8FB6-C28F8738BB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A5EAB3-2970-4A03-A0D0-D568A6384315}"/>
              </a:ext>
            </a:extLst>
          </p:cNvPr>
          <p:cNvSpPr>
            <a:spLocks noGrp="1"/>
          </p:cNvSpPr>
          <p:nvPr>
            <p:ph type="sldNum" sz="quarter" idx="12"/>
          </p:nvPr>
        </p:nvSpPr>
        <p:spPr/>
        <p:txBody>
          <a:bodyPr/>
          <a:lstStyle/>
          <a:p>
            <a:fld id="{F92427C9-8CBF-4FCF-85FF-AC0B60D7111E}" type="slidenum">
              <a:rPr lang="en-US" smtClean="0"/>
              <a:t>‹#›</a:t>
            </a:fld>
            <a:endParaRPr lang="en-US"/>
          </a:p>
        </p:txBody>
      </p:sp>
    </p:spTree>
    <p:extLst>
      <p:ext uri="{BB962C8B-B14F-4D97-AF65-F5344CB8AC3E}">
        <p14:creationId xmlns:p14="http://schemas.microsoft.com/office/powerpoint/2010/main" val="2934284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47404-C1E2-4383-BD67-6300E32B83D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64DDB6D-B27F-49E3-B586-A9D5F1AF36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5DC2359-9526-4101-BEA0-7F7B9885920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0C1FE2-B3F0-400A-8DED-EF3D20057A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2A3BCD6-4C5E-4FF9-B0C1-4F5F47EA841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1B9AF97-59D3-4610-8CB9-FB0206453105}"/>
              </a:ext>
            </a:extLst>
          </p:cNvPr>
          <p:cNvSpPr>
            <a:spLocks noGrp="1"/>
          </p:cNvSpPr>
          <p:nvPr>
            <p:ph type="dt" sz="half" idx="10"/>
          </p:nvPr>
        </p:nvSpPr>
        <p:spPr/>
        <p:txBody>
          <a:bodyPr/>
          <a:lstStyle/>
          <a:p>
            <a:fld id="{8256827F-5C44-4A8C-84B9-725BE684F16A}" type="datetimeFigureOut">
              <a:rPr lang="en-US" smtClean="0"/>
              <a:t>1/25/2026</a:t>
            </a:fld>
            <a:endParaRPr lang="en-US"/>
          </a:p>
        </p:txBody>
      </p:sp>
      <p:sp>
        <p:nvSpPr>
          <p:cNvPr id="8" name="Footer Placeholder 7">
            <a:extLst>
              <a:ext uri="{FF2B5EF4-FFF2-40B4-BE49-F238E27FC236}">
                <a16:creationId xmlns:a16="http://schemas.microsoft.com/office/drawing/2014/main" id="{E94632D4-EB62-4F39-B435-FC2B92686B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8BC610B-15F9-4F63-B35E-FCDB9CD5EDE8}"/>
              </a:ext>
            </a:extLst>
          </p:cNvPr>
          <p:cNvSpPr>
            <a:spLocks noGrp="1"/>
          </p:cNvSpPr>
          <p:nvPr>
            <p:ph type="sldNum" sz="quarter" idx="12"/>
          </p:nvPr>
        </p:nvSpPr>
        <p:spPr/>
        <p:txBody>
          <a:bodyPr/>
          <a:lstStyle/>
          <a:p>
            <a:fld id="{F92427C9-8CBF-4FCF-85FF-AC0B60D7111E}" type="slidenum">
              <a:rPr lang="en-US" smtClean="0"/>
              <a:t>‹#›</a:t>
            </a:fld>
            <a:endParaRPr lang="en-US"/>
          </a:p>
        </p:txBody>
      </p:sp>
    </p:spTree>
    <p:extLst>
      <p:ext uri="{BB962C8B-B14F-4D97-AF65-F5344CB8AC3E}">
        <p14:creationId xmlns:p14="http://schemas.microsoft.com/office/powerpoint/2010/main" val="1796718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82A5F-7BD9-43E7-9758-1DEAB2797DD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34E9EE7-8F0C-4CC8-8654-AE227C754A5C}"/>
              </a:ext>
            </a:extLst>
          </p:cNvPr>
          <p:cNvSpPr>
            <a:spLocks noGrp="1"/>
          </p:cNvSpPr>
          <p:nvPr>
            <p:ph type="dt" sz="half" idx="10"/>
          </p:nvPr>
        </p:nvSpPr>
        <p:spPr/>
        <p:txBody>
          <a:bodyPr/>
          <a:lstStyle/>
          <a:p>
            <a:fld id="{8256827F-5C44-4A8C-84B9-725BE684F16A}" type="datetimeFigureOut">
              <a:rPr lang="en-US" smtClean="0"/>
              <a:t>1/25/2026</a:t>
            </a:fld>
            <a:endParaRPr lang="en-US"/>
          </a:p>
        </p:txBody>
      </p:sp>
      <p:sp>
        <p:nvSpPr>
          <p:cNvPr id="4" name="Footer Placeholder 3">
            <a:extLst>
              <a:ext uri="{FF2B5EF4-FFF2-40B4-BE49-F238E27FC236}">
                <a16:creationId xmlns:a16="http://schemas.microsoft.com/office/drawing/2014/main" id="{DFC8A885-FD89-4B07-B856-0D90B4F4AF2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A30CD6-C77A-441B-88C3-861576991615}"/>
              </a:ext>
            </a:extLst>
          </p:cNvPr>
          <p:cNvSpPr>
            <a:spLocks noGrp="1"/>
          </p:cNvSpPr>
          <p:nvPr>
            <p:ph type="sldNum" sz="quarter" idx="12"/>
          </p:nvPr>
        </p:nvSpPr>
        <p:spPr/>
        <p:txBody>
          <a:bodyPr/>
          <a:lstStyle/>
          <a:p>
            <a:fld id="{F92427C9-8CBF-4FCF-85FF-AC0B60D7111E}" type="slidenum">
              <a:rPr lang="en-US" smtClean="0"/>
              <a:t>‹#›</a:t>
            </a:fld>
            <a:endParaRPr lang="en-US"/>
          </a:p>
        </p:txBody>
      </p:sp>
    </p:spTree>
    <p:extLst>
      <p:ext uri="{BB962C8B-B14F-4D97-AF65-F5344CB8AC3E}">
        <p14:creationId xmlns:p14="http://schemas.microsoft.com/office/powerpoint/2010/main" val="2298821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0F7E66-5637-425C-9805-C42C97D8872F}"/>
              </a:ext>
            </a:extLst>
          </p:cNvPr>
          <p:cNvSpPr>
            <a:spLocks noGrp="1"/>
          </p:cNvSpPr>
          <p:nvPr>
            <p:ph type="dt" sz="half" idx="10"/>
          </p:nvPr>
        </p:nvSpPr>
        <p:spPr/>
        <p:txBody>
          <a:bodyPr/>
          <a:lstStyle/>
          <a:p>
            <a:fld id="{8256827F-5C44-4A8C-84B9-725BE684F16A}" type="datetimeFigureOut">
              <a:rPr lang="en-US" smtClean="0"/>
              <a:t>1/25/2026</a:t>
            </a:fld>
            <a:endParaRPr lang="en-US"/>
          </a:p>
        </p:txBody>
      </p:sp>
      <p:sp>
        <p:nvSpPr>
          <p:cNvPr id="3" name="Footer Placeholder 2">
            <a:extLst>
              <a:ext uri="{FF2B5EF4-FFF2-40B4-BE49-F238E27FC236}">
                <a16:creationId xmlns:a16="http://schemas.microsoft.com/office/drawing/2014/main" id="{2995290B-C816-499A-A932-4A6E60C50A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11792C6-0EA6-4463-9007-3B4EC0626F80}"/>
              </a:ext>
            </a:extLst>
          </p:cNvPr>
          <p:cNvSpPr>
            <a:spLocks noGrp="1"/>
          </p:cNvSpPr>
          <p:nvPr>
            <p:ph type="sldNum" sz="quarter" idx="12"/>
          </p:nvPr>
        </p:nvSpPr>
        <p:spPr/>
        <p:txBody>
          <a:bodyPr/>
          <a:lstStyle/>
          <a:p>
            <a:fld id="{F92427C9-8CBF-4FCF-85FF-AC0B60D7111E}" type="slidenum">
              <a:rPr lang="en-US" smtClean="0"/>
              <a:t>‹#›</a:t>
            </a:fld>
            <a:endParaRPr lang="en-US"/>
          </a:p>
        </p:txBody>
      </p:sp>
    </p:spTree>
    <p:extLst>
      <p:ext uri="{BB962C8B-B14F-4D97-AF65-F5344CB8AC3E}">
        <p14:creationId xmlns:p14="http://schemas.microsoft.com/office/powerpoint/2010/main" val="177010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1645A-3089-4D27-90E8-37A6C8AF96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46FF16C-CB34-4BA4-AB0E-FAADF2F9D8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9B984C-0698-48E1-8CC7-2F48E20B8D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FC715DD-E213-47D3-BFC4-076FE056F448}"/>
              </a:ext>
            </a:extLst>
          </p:cNvPr>
          <p:cNvSpPr>
            <a:spLocks noGrp="1"/>
          </p:cNvSpPr>
          <p:nvPr>
            <p:ph type="dt" sz="half" idx="10"/>
          </p:nvPr>
        </p:nvSpPr>
        <p:spPr/>
        <p:txBody>
          <a:bodyPr/>
          <a:lstStyle/>
          <a:p>
            <a:fld id="{8256827F-5C44-4A8C-84B9-725BE684F16A}" type="datetimeFigureOut">
              <a:rPr lang="en-US" smtClean="0"/>
              <a:t>1/25/2026</a:t>
            </a:fld>
            <a:endParaRPr lang="en-US"/>
          </a:p>
        </p:txBody>
      </p:sp>
      <p:sp>
        <p:nvSpPr>
          <p:cNvPr id="6" name="Footer Placeholder 5">
            <a:extLst>
              <a:ext uri="{FF2B5EF4-FFF2-40B4-BE49-F238E27FC236}">
                <a16:creationId xmlns:a16="http://schemas.microsoft.com/office/drawing/2014/main" id="{7A4E1B1A-8132-4F0A-B0A3-3215EF466A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F1CEC5-C4B9-47CE-B061-1D002AEB984B}"/>
              </a:ext>
            </a:extLst>
          </p:cNvPr>
          <p:cNvSpPr>
            <a:spLocks noGrp="1"/>
          </p:cNvSpPr>
          <p:nvPr>
            <p:ph type="sldNum" sz="quarter" idx="12"/>
          </p:nvPr>
        </p:nvSpPr>
        <p:spPr/>
        <p:txBody>
          <a:bodyPr/>
          <a:lstStyle/>
          <a:p>
            <a:fld id="{F92427C9-8CBF-4FCF-85FF-AC0B60D7111E}" type="slidenum">
              <a:rPr lang="en-US" smtClean="0"/>
              <a:t>‹#›</a:t>
            </a:fld>
            <a:endParaRPr lang="en-US"/>
          </a:p>
        </p:txBody>
      </p:sp>
    </p:spTree>
    <p:extLst>
      <p:ext uri="{BB962C8B-B14F-4D97-AF65-F5344CB8AC3E}">
        <p14:creationId xmlns:p14="http://schemas.microsoft.com/office/powerpoint/2010/main" val="897839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F6311-0D05-4D55-B863-07BD0618EA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E85D732-8212-47AA-A9C7-AA56272955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1C343E-A321-44B0-887A-486523AF12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784C66E-BE70-428C-91BB-DF9235D49FB4}"/>
              </a:ext>
            </a:extLst>
          </p:cNvPr>
          <p:cNvSpPr>
            <a:spLocks noGrp="1"/>
          </p:cNvSpPr>
          <p:nvPr>
            <p:ph type="dt" sz="half" idx="10"/>
          </p:nvPr>
        </p:nvSpPr>
        <p:spPr/>
        <p:txBody>
          <a:bodyPr/>
          <a:lstStyle/>
          <a:p>
            <a:fld id="{8256827F-5C44-4A8C-84B9-725BE684F16A}" type="datetimeFigureOut">
              <a:rPr lang="en-US" smtClean="0"/>
              <a:t>1/25/2026</a:t>
            </a:fld>
            <a:endParaRPr lang="en-US"/>
          </a:p>
        </p:txBody>
      </p:sp>
      <p:sp>
        <p:nvSpPr>
          <p:cNvPr id="6" name="Footer Placeholder 5">
            <a:extLst>
              <a:ext uri="{FF2B5EF4-FFF2-40B4-BE49-F238E27FC236}">
                <a16:creationId xmlns:a16="http://schemas.microsoft.com/office/drawing/2014/main" id="{A129CF0E-D010-42BF-AD54-4AB3C0A153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E8DC80C-1BC6-4E63-8861-370BB7B18920}"/>
              </a:ext>
            </a:extLst>
          </p:cNvPr>
          <p:cNvSpPr>
            <a:spLocks noGrp="1"/>
          </p:cNvSpPr>
          <p:nvPr>
            <p:ph type="sldNum" sz="quarter" idx="12"/>
          </p:nvPr>
        </p:nvSpPr>
        <p:spPr/>
        <p:txBody>
          <a:bodyPr/>
          <a:lstStyle/>
          <a:p>
            <a:fld id="{F92427C9-8CBF-4FCF-85FF-AC0B60D7111E}" type="slidenum">
              <a:rPr lang="en-US" smtClean="0"/>
              <a:t>‹#›</a:t>
            </a:fld>
            <a:endParaRPr lang="en-US"/>
          </a:p>
        </p:txBody>
      </p:sp>
    </p:spTree>
    <p:extLst>
      <p:ext uri="{BB962C8B-B14F-4D97-AF65-F5344CB8AC3E}">
        <p14:creationId xmlns:p14="http://schemas.microsoft.com/office/powerpoint/2010/main" val="3559496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3F8F8-AF15-4A1D-8CE6-0D3538938F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07D018-CD89-47C7-8176-5D95A509C2E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C4FD43-CF76-47C0-9B40-DAE20B671993}"/>
              </a:ext>
            </a:extLst>
          </p:cNvPr>
          <p:cNvSpPr>
            <a:spLocks noGrp="1"/>
          </p:cNvSpPr>
          <p:nvPr>
            <p:ph type="dt" sz="half" idx="10"/>
          </p:nvPr>
        </p:nvSpPr>
        <p:spPr/>
        <p:txBody>
          <a:bodyPr/>
          <a:lstStyle/>
          <a:p>
            <a:fld id="{8256827F-5C44-4A8C-84B9-725BE684F16A}" type="datetimeFigureOut">
              <a:rPr lang="en-US" smtClean="0"/>
              <a:t>1/25/2026</a:t>
            </a:fld>
            <a:endParaRPr lang="en-US"/>
          </a:p>
        </p:txBody>
      </p:sp>
      <p:sp>
        <p:nvSpPr>
          <p:cNvPr id="5" name="Footer Placeholder 4">
            <a:extLst>
              <a:ext uri="{FF2B5EF4-FFF2-40B4-BE49-F238E27FC236}">
                <a16:creationId xmlns:a16="http://schemas.microsoft.com/office/drawing/2014/main" id="{39B1BDFB-92BB-458E-9F41-1D4A0E15D6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BE4C44-D76D-4857-86C3-C459C5CF726C}"/>
              </a:ext>
            </a:extLst>
          </p:cNvPr>
          <p:cNvSpPr>
            <a:spLocks noGrp="1"/>
          </p:cNvSpPr>
          <p:nvPr>
            <p:ph type="sldNum" sz="quarter" idx="12"/>
          </p:nvPr>
        </p:nvSpPr>
        <p:spPr/>
        <p:txBody>
          <a:bodyPr/>
          <a:lstStyle/>
          <a:p>
            <a:fld id="{F92427C9-8CBF-4FCF-85FF-AC0B60D7111E}" type="slidenum">
              <a:rPr lang="en-US" smtClean="0"/>
              <a:t>‹#›</a:t>
            </a:fld>
            <a:endParaRPr lang="en-US"/>
          </a:p>
        </p:txBody>
      </p:sp>
    </p:spTree>
    <p:extLst>
      <p:ext uri="{BB962C8B-B14F-4D97-AF65-F5344CB8AC3E}">
        <p14:creationId xmlns:p14="http://schemas.microsoft.com/office/powerpoint/2010/main" val="556961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7DB6EA-13A6-4DA7-91B0-C9AC7DBEDEC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5F4C3C-F529-4655-93F1-71ABD30CAB2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26E23C-E0D9-40B2-87D6-5BA36333D7CD}"/>
              </a:ext>
            </a:extLst>
          </p:cNvPr>
          <p:cNvSpPr>
            <a:spLocks noGrp="1"/>
          </p:cNvSpPr>
          <p:nvPr>
            <p:ph type="dt" sz="half" idx="10"/>
          </p:nvPr>
        </p:nvSpPr>
        <p:spPr/>
        <p:txBody>
          <a:bodyPr/>
          <a:lstStyle/>
          <a:p>
            <a:fld id="{8256827F-5C44-4A8C-84B9-725BE684F16A}" type="datetimeFigureOut">
              <a:rPr lang="en-US" smtClean="0"/>
              <a:t>1/25/2026</a:t>
            </a:fld>
            <a:endParaRPr lang="en-US"/>
          </a:p>
        </p:txBody>
      </p:sp>
      <p:sp>
        <p:nvSpPr>
          <p:cNvPr id="5" name="Footer Placeholder 4">
            <a:extLst>
              <a:ext uri="{FF2B5EF4-FFF2-40B4-BE49-F238E27FC236}">
                <a16:creationId xmlns:a16="http://schemas.microsoft.com/office/drawing/2014/main" id="{335E13A1-43C2-4842-9CEC-0C9B67819AC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02DDA5-4753-4D47-BDE3-E2A82171A5DB}"/>
              </a:ext>
            </a:extLst>
          </p:cNvPr>
          <p:cNvSpPr>
            <a:spLocks noGrp="1"/>
          </p:cNvSpPr>
          <p:nvPr>
            <p:ph type="sldNum" sz="quarter" idx="12"/>
          </p:nvPr>
        </p:nvSpPr>
        <p:spPr/>
        <p:txBody>
          <a:bodyPr/>
          <a:lstStyle/>
          <a:p>
            <a:fld id="{F92427C9-8CBF-4FCF-85FF-AC0B60D7111E}" type="slidenum">
              <a:rPr lang="en-US" smtClean="0"/>
              <a:t>‹#›</a:t>
            </a:fld>
            <a:endParaRPr lang="en-US"/>
          </a:p>
        </p:txBody>
      </p:sp>
    </p:spTree>
    <p:extLst>
      <p:ext uri="{BB962C8B-B14F-4D97-AF65-F5344CB8AC3E}">
        <p14:creationId xmlns:p14="http://schemas.microsoft.com/office/powerpoint/2010/main" val="4044758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D4ADB6-DD1D-491C-91D2-14CEEE6AB7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44C21C9-CA2B-4F25-B643-C5EFCFF0FA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C08C3A-30CD-483D-90D4-5C9C44C586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56827F-5C44-4A8C-84B9-725BE684F16A}" type="datetimeFigureOut">
              <a:rPr lang="en-US" smtClean="0"/>
              <a:t>1/25/2026</a:t>
            </a:fld>
            <a:endParaRPr lang="en-US"/>
          </a:p>
        </p:txBody>
      </p:sp>
      <p:sp>
        <p:nvSpPr>
          <p:cNvPr id="5" name="Footer Placeholder 4">
            <a:extLst>
              <a:ext uri="{FF2B5EF4-FFF2-40B4-BE49-F238E27FC236}">
                <a16:creationId xmlns:a16="http://schemas.microsoft.com/office/drawing/2014/main" id="{CF197DA6-0966-4091-88A0-4924D59485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1897F27-4904-4BFE-AEE0-A6D4FE450E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2427C9-8CBF-4FCF-85FF-AC0B60D7111E}" type="slidenum">
              <a:rPr lang="en-US" smtClean="0"/>
              <a:t>‹#›</a:t>
            </a:fld>
            <a:endParaRPr lang="en-US"/>
          </a:p>
        </p:txBody>
      </p:sp>
    </p:spTree>
    <p:extLst>
      <p:ext uri="{BB962C8B-B14F-4D97-AF65-F5344CB8AC3E}">
        <p14:creationId xmlns:p14="http://schemas.microsoft.com/office/powerpoint/2010/main" val="28990961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CBB82FD-E1E0-41AF-8189-5668757C55EC}"/>
              </a:ext>
            </a:extLst>
          </p:cNvPr>
          <p:cNvSpPr/>
          <p:nvPr/>
        </p:nvSpPr>
        <p:spPr>
          <a:xfrm>
            <a:off x="256674" y="1118940"/>
            <a:ext cx="11678652" cy="362551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D5C043-AE44-4765-AC5E-F5F00CF8388B}"/>
              </a:ext>
            </a:extLst>
          </p:cNvPr>
          <p:cNvSpPr>
            <a:spLocks noGrp="1"/>
          </p:cNvSpPr>
          <p:nvPr>
            <p:ph type="ctrTitle"/>
          </p:nvPr>
        </p:nvSpPr>
        <p:spPr>
          <a:xfrm>
            <a:off x="762687" y="3429000"/>
            <a:ext cx="10659291" cy="1107031"/>
          </a:xfrm>
          <a:ln>
            <a:noFill/>
          </a:ln>
          <a:effectLst>
            <a:outerShdw blurRad="50800" dist="38100" dir="5400000" algn="t" rotWithShape="0">
              <a:prstClr val="black">
                <a:alpha val="40000"/>
              </a:prstClr>
            </a:outerShdw>
          </a:effectLst>
        </p:spPr>
        <p:txBody>
          <a:bodyPr>
            <a:normAutofit fontScale="90000"/>
          </a:bodyPr>
          <a:lstStyle/>
          <a:p>
            <a:pPr marL="0" marR="0" algn="l">
              <a:lnSpc>
                <a:spcPct val="107000"/>
              </a:lnSpc>
              <a:spcBef>
                <a:spcPts val="0"/>
              </a:spcBef>
              <a:spcAft>
                <a:spcPts val="800"/>
              </a:spcAft>
            </a:pPr>
            <a:r>
              <a:rPr lang="en-US" sz="8900" b="1" kern="100" dirty="0">
                <a:solidFill>
                  <a:srgbClr val="202020"/>
                </a:solidFill>
                <a:latin typeface="Arial" panose="020B0604020202020204" pitchFamily="34" charset="0"/>
                <a:ea typeface="Calibri" panose="020F0502020204030204" pitchFamily="34" charset="0"/>
                <a:cs typeface="Arial" panose="020B0604020202020204" pitchFamily="34" charset="0"/>
              </a:rPr>
              <a:t>ONLINE SALES ANALYSIS</a:t>
            </a:r>
            <a:br>
              <a:rPr lang="en-US" sz="4800" kern="100" dirty="0">
                <a:latin typeface="Calibri" panose="020F0502020204030204" pitchFamily="34" charset="0"/>
                <a:ea typeface="Calibri" panose="020F0502020204030204" pitchFamily="34" charset="0"/>
                <a:cs typeface="Times New Roman" panose="02020603050405020304" pitchFamily="18" charset="0"/>
              </a:rPr>
            </a:br>
            <a:endParaRPr lang="en-US" sz="3100" i="1" kern="100" dirty="0">
              <a:latin typeface="Calibri" panose="020F0502020204030204" pitchFamily="34" charset="0"/>
              <a:ea typeface="Calibri" panose="020F0502020204030204" pitchFamily="34"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6F85964E-EFFE-4A24-894D-538D434BCD70}"/>
              </a:ext>
            </a:extLst>
          </p:cNvPr>
          <p:cNvCxnSpPr>
            <a:cxnSpLocks/>
          </p:cNvCxnSpPr>
          <p:nvPr/>
        </p:nvCxnSpPr>
        <p:spPr>
          <a:xfrm>
            <a:off x="256674" y="1026694"/>
            <a:ext cx="11678652" cy="0"/>
          </a:xfrm>
          <a:prstGeom prst="line">
            <a:avLst/>
          </a:prstGeom>
          <a:ln w="571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DFE7759-26E7-4D96-AFE2-1CA4E9EFB819}"/>
              </a:ext>
            </a:extLst>
          </p:cNvPr>
          <p:cNvCxnSpPr>
            <a:cxnSpLocks/>
          </p:cNvCxnSpPr>
          <p:nvPr/>
        </p:nvCxnSpPr>
        <p:spPr>
          <a:xfrm>
            <a:off x="256674" y="4832688"/>
            <a:ext cx="11678652" cy="0"/>
          </a:xfrm>
          <a:prstGeom prst="line">
            <a:avLst/>
          </a:prstGeom>
          <a:ln w="571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ED7EF9FE-867A-4528-9C76-76D68D9F1527}"/>
              </a:ext>
            </a:extLst>
          </p:cNvPr>
          <p:cNvGrpSpPr/>
          <p:nvPr/>
        </p:nvGrpSpPr>
        <p:grpSpPr>
          <a:xfrm>
            <a:off x="10546996" y="4372856"/>
            <a:ext cx="1324161" cy="1354155"/>
            <a:chOff x="10331116" y="4140934"/>
            <a:chExt cx="1459831" cy="1598105"/>
          </a:xfrm>
        </p:grpSpPr>
        <p:sp>
          <p:nvSpPr>
            <p:cNvPr id="12" name="Oval 11">
              <a:extLst>
                <a:ext uri="{FF2B5EF4-FFF2-40B4-BE49-F238E27FC236}">
                  <a16:creationId xmlns:a16="http://schemas.microsoft.com/office/drawing/2014/main" id="{1F63C531-FC6E-4591-A84C-2B5D3996257E}"/>
                </a:ext>
              </a:extLst>
            </p:cNvPr>
            <p:cNvSpPr/>
            <p:nvPr/>
          </p:nvSpPr>
          <p:spPr>
            <a:xfrm>
              <a:off x="10331116" y="4140934"/>
              <a:ext cx="1459831" cy="15981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D4442541-E382-49F9-BAF9-FDC1D9F24ED1}"/>
                </a:ext>
              </a:extLst>
            </p:cNvPr>
            <p:cNvSpPr/>
            <p:nvPr/>
          </p:nvSpPr>
          <p:spPr>
            <a:xfrm>
              <a:off x="10443409" y="4264302"/>
              <a:ext cx="1267327" cy="1366477"/>
            </a:xfrm>
            <a:prstGeom prst="ellipse">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TextBox 15">
            <a:extLst>
              <a:ext uri="{FF2B5EF4-FFF2-40B4-BE49-F238E27FC236}">
                <a16:creationId xmlns:a16="http://schemas.microsoft.com/office/drawing/2014/main" id="{3BDD6F74-53CD-402B-9247-3306D0773669}"/>
              </a:ext>
            </a:extLst>
          </p:cNvPr>
          <p:cNvSpPr txBox="1"/>
          <p:nvPr/>
        </p:nvSpPr>
        <p:spPr>
          <a:xfrm>
            <a:off x="256674" y="4947386"/>
            <a:ext cx="10213636" cy="369332"/>
          </a:xfrm>
          <a:prstGeom prst="rect">
            <a:avLst/>
          </a:prstGeom>
          <a:noFill/>
        </p:spPr>
        <p:txBody>
          <a:bodyPr wrap="square" rtlCol="0">
            <a:spAutoFit/>
          </a:bodyPr>
          <a:lstStyle/>
          <a:p>
            <a:pPr algn="just"/>
            <a:r>
              <a:rPr lang="en-US" dirty="0"/>
              <a:t>To analyze the online sales dataset and provide data-driven insights and recommendations focused on:</a:t>
            </a:r>
            <a:endParaRPr lang="en-US"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190154D5-1D4D-49FE-AFBC-17F322D55521}"/>
              </a:ext>
            </a:extLst>
          </p:cNvPr>
          <p:cNvSpPr txBox="1"/>
          <p:nvPr/>
        </p:nvSpPr>
        <p:spPr>
          <a:xfrm rot="10800000" flipV="1">
            <a:off x="7988968" y="6225671"/>
            <a:ext cx="4427620" cy="338554"/>
          </a:xfrm>
          <a:prstGeom prst="rect">
            <a:avLst/>
          </a:prstGeom>
          <a:noFill/>
        </p:spPr>
        <p:txBody>
          <a:bodyPr wrap="square" rtlCol="0">
            <a:spAutoFit/>
          </a:bodyPr>
          <a:lstStyle/>
          <a:p>
            <a:pPr algn="just"/>
            <a:r>
              <a:rPr lang="en-US" sz="1600" i="1" dirty="0">
                <a:latin typeface="Arial" panose="020B0604020202020204" pitchFamily="34" charset="0"/>
                <a:cs typeface="Arial" panose="020B0604020202020204" pitchFamily="34" charset="0"/>
              </a:rPr>
              <a:t>Done and Presented by Akan </a:t>
            </a:r>
            <a:r>
              <a:rPr lang="en-US" sz="1600" i="1" dirty="0" err="1">
                <a:latin typeface="Arial" panose="020B0604020202020204" pitchFamily="34" charset="0"/>
                <a:cs typeface="Arial" panose="020B0604020202020204" pitchFamily="34" charset="0"/>
              </a:rPr>
              <a:t>Ukpong</a:t>
            </a:r>
            <a:endParaRPr lang="en-US" sz="16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2388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8E4F8-8C58-40D9-9EB5-161ED1CFC23C}"/>
              </a:ext>
            </a:extLst>
          </p:cNvPr>
          <p:cNvSpPr>
            <a:spLocks noGrp="1"/>
          </p:cNvSpPr>
          <p:nvPr>
            <p:ph type="title"/>
          </p:nvPr>
        </p:nvSpPr>
        <p:spPr/>
        <p:txBody>
          <a:bodyPr>
            <a:normAutofit/>
          </a:bodyPr>
          <a:lstStyle/>
          <a:p>
            <a:pPr algn="ctr"/>
            <a:r>
              <a:rPr lang="en-US" sz="3200" b="1" dirty="0">
                <a:latin typeface="Arial" panose="020B0604020202020204" pitchFamily="34" charset="0"/>
                <a:cs typeface="Arial" panose="020B0604020202020204" pitchFamily="34" charset="0"/>
              </a:rPr>
              <a:t>TABLE OF CONTENT</a:t>
            </a:r>
          </a:p>
        </p:txBody>
      </p:sp>
      <p:sp>
        <p:nvSpPr>
          <p:cNvPr id="3" name="Content Placeholder 2">
            <a:extLst>
              <a:ext uri="{FF2B5EF4-FFF2-40B4-BE49-F238E27FC236}">
                <a16:creationId xmlns:a16="http://schemas.microsoft.com/office/drawing/2014/main" id="{B234DF7F-B1E3-4B49-B18A-238EA7163EAE}"/>
              </a:ext>
            </a:extLst>
          </p:cNvPr>
          <p:cNvSpPr>
            <a:spLocks noGrp="1"/>
          </p:cNvSpPr>
          <p:nvPr>
            <p:ph idx="1"/>
          </p:nvPr>
        </p:nvSpPr>
        <p:spPr>
          <a:xfrm>
            <a:off x="3420980" y="1690687"/>
            <a:ext cx="7247020" cy="4549691"/>
          </a:xfrm>
        </p:spPr>
        <p:txBody>
          <a:bodyPr>
            <a:normAutofit lnSpcReduction="10000"/>
          </a:bodyPr>
          <a:lstStyle/>
          <a:p>
            <a:pPr>
              <a:lnSpc>
                <a:spcPct val="150000"/>
              </a:lnSpc>
              <a:buClr>
                <a:schemeClr val="accent1"/>
              </a:buClr>
              <a:buFont typeface="Wingdings" panose="05000000000000000000" pitchFamily="2" charset="2"/>
              <a:buChar char="§"/>
            </a:pPr>
            <a:r>
              <a:rPr kumimoji="0" lang="en-NG" altLang="en-NG" sz="2400" b="0" i="0" u="none" strike="noStrike" cap="none" normalizeH="0" baseline="0" dirty="0">
                <a:ln>
                  <a:noFill/>
                </a:ln>
                <a:solidFill>
                  <a:schemeClr val="tx1"/>
                </a:solidFill>
                <a:effectLst/>
                <a:latin typeface="Arial" panose="020B0604020202020204" pitchFamily="34" charset="0"/>
              </a:rPr>
              <a:t>Improving sales and marketing strategies</a:t>
            </a:r>
          </a:p>
          <a:p>
            <a:pPr>
              <a:lnSpc>
                <a:spcPct val="150000"/>
              </a:lnSpc>
              <a:buClr>
                <a:schemeClr val="accent1"/>
              </a:buClr>
              <a:buFont typeface="Wingdings" panose="05000000000000000000" pitchFamily="2" charset="2"/>
              <a:buChar char="§"/>
            </a:pPr>
            <a:r>
              <a:rPr kumimoji="0" lang="en-NG" altLang="en-NG" sz="2400" b="0" i="0" u="none" strike="noStrike" cap="none" normalizeH="0" baseline="0" dirty="0">
                <a:ln>
                  <a:noFill/>
                </a:ln>
                <a:solidFill>
                  <a:schemeClr val="tx1"/>
                </a:solidFill>
                <a:effectLst/>
                <a:latin typeface="Arial" panose="020B0604020202020204" pitchFamily="34" charset="0"/>
              </a:rPr>
              <a:t>Optimizing inventory and stock planning</a:t>
            </a:r>
          </a:p>
          <a:p>
            <a:pPr>
              <a:lnSpc>
                <a:spcPct val="150000"/>
              </a:lnSpc>
              <a:buClr>
                <a:schemeClr val="accent1"/>
              </a:buClr>
              <a:buFont typeface="Wingdings" panose="05000000000000000000" pitchFamily="2" charset="2"/>
              <a:buChar char="§"/>
            </a:pPr>
            <a:r>
              <a:rPr kumimoji="0" lang="en-NG" altLang="en-NG" sz="2400" b="0" i="0" u="none" strike="noStrike" cap="none" normalizeH="0" baseline="0" dirty="0">
                <a:ln>
                  <a:noFill/>
                </a:ln>
                <a:solidFill>
                  <a:schemeClr val="tx1"/>
                </a:solidFill>
                <a:effectLst/>
                <a:latin typeface="Arial" panose="020B0604020202020204" pitchFamily="34" charset="0"/>
              </a:rPr>
              <a:t>Enhancing customer experience and satisfaction</a:t>
            </a:r>
          </a:p>
          <a:p>
            <a:pPr>
              <a:lnSpc>
                <a:spcPct val="150000"/>
              </a:lnSpc>
              <a:buClr>
                <a:schemeClr val="accent1"/>
              </a:buClr>
              <a:buFont typeface="Wingdings" panose="05000000000000000000" pitchFamily="2" charset="2"/>
              <a:buChar char="§"/>
            </a:pPr>
            <a:r>
              <a:rPr lang="en-US" sz="2400" dirty="0">
                <a:latin typeface="Arial" panose="020B0604020202020204" pitchFamily="34" charset="0"/>
                <a:cs typeface="Arial" panose="020B0604020202020204" pitchFamily="34" charset="0"/>
              </a:rPr>
              <a:t>Analysis and Dashboards</a:t>
            </a:r>
          </a:p>
          <a:p>
            <a:pPr>
              <a:lnSpc>
                <a:spcPct val="150000"/>
              </a:lnSpc>
              <a:buClr>
                <a:schemeClr val="accent1"/>
              </a:buClr>
              <a:buFont typeface="Wingdings" panose="05000000000000000000" pitchFamily="2" charset="2"/>
              <a:buChar char="§"/>
            </a:pPr>
            <a:r>
              <a:rPr lang="en-US" sz="2400" dirty="0">
                <a:latin typeface="Arial" panose="020B0604020202020204" pitchFamily="34" charset="0"/>
                <a:cs typeface="Arial" panose="020B0604020202020204" pitchFamily="34" charset="0"/>
              </a:rPr>
              <a:t>Conclusion /Recommendation</a:t>
            </a:r>
          </a:p>
          <a:p>
            <a:pPr>
              <a:lnSpc>
                <a:spcPct val="150000"/>
              </a:lnSpc>
              <a:buClr>
                <a:schemeClr val="accent1"/>
              </a:buClr>
              <a:buFont typeface="Wingdings" panose="05000000000000000000" pitchFamily="2" charset="2"/>
              <a:buChar char="§"/>
            </a:pPr>
            <a:r>
              <a:rPr lang="en-US" sz="2400" dirty="0">
                <a:latin typeface="Arial" panose="020B0604020202020204" pitchFamily="34" charset="0"/>
                <a:cs typeface="Arial" panose="020B0604020202020204" pitchFamily="34" charset="0"/>
              </a:rPr>
              <a:t>Tools &amp; Methods Used</a:t>
            </a:r>
          </a:p>
          <a:p>
            <a:pPr>
              <a:lnSpc>
                <a:spcPct val="150000"/>
              </a:lnSpc>
              <a:buClr>
                <a:schemeClr val="accent1"/>
              </a:buClr>
              <a:buFont typeface="Wingdings" panose="05000000000000000000" pitchFamily="2" charset="2"/>
              <a:buChar char="§"/>
            </a:pPr>
            <a:r>
              <a:rPr lang="en-US" sz="2400" dirty="0">
                <a:latin typeface="Arial" panose="020B0604020202020204" pitchFamily="34" charset="0"/>
                <a:cs typeface="Arial" panose="020B0604020202020204" pitchFamily="34" charset="0"/>
              </a:rPr>
              <a:t>Ask me any Question</a:t>
            </a:r>
          </a:p>
        </p:txBody>
      </p:sp>
      <p:grpSp>
        <p:nvGrpSpPr>
          <p:cNvPr id="4" name="Group 3">
            <a:extLst>
              <a:ext uri="{FF2B5EF4-FFF2-40B4-BE49-F238E27FC236}">
                <a16:creationId xmlns:a16="http://schemas.microsoft.com/office/drawing/2014/main" id="{5144DD9C-EBF4-41DD-B38B-EB9DB393985E}"/>
              </a:ext>
            </a:extLst>
          </p:cNvPr>
          <p:cNvGrpSpPr/>
          <p:nvPr/>
        </p:nvGrpSpPr>
        <p:grpSpPr>
          <a:xfrm>
            <a:off x="11616145" y="6097988"/>
            <a:ext cx="431477" cy="510215"/>
            <a:chOff x="10331116" y="4140934"/>
            <a:chExt cx="1459831" cy="1598105"/>
          </a:xfrm>
        </p:grpSpPr>
        <p:sp>
          <p:nvSpPr>
            <p:cNvPr id="5" name="Oval 4">
              <a:extLst>
                <a:ext uri="{FF2B5EF4-FFF2-40B4-BE49-F238E27FC236}">
                  <a16:creationId xmlns:a16="http://schemas.microsoft.com/office/drawing/2014/main" id="{E56956B3-D177-4F61-A3F5-1F75CF3B1BCC}"/>
                </a:ext>
              </a:extLst>
            </p:cNvPr>
            <p:cNvSpPr/>
            <p:nvPr/>
          </p:nvSpPr>
          <p:spPr>
            <a:xfrm>
              <a:off x="10331116" y="4140934"/>
              <a:ext cx="1459831" cy="15981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549553E-3C4E-4DE6-8172-44FCB365AF8F}"/>
                </a:ext>
              </a:extLst>
            </p:cNvPr>
            <p:cNvSpPr/>
            <p:nvPr/>
          </p:nvSpPr>
          <p:spPr>
            <a:xfrm>
              <a:off x="10443409" y="4264302"/>
              <a:ext cx="1267327" cy="1366477"/>
            </a:xfrm>
            <a:prstGeom prst="ellipse">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4594CF32-F1EF-4FCD-B7EA-9B5F82F35A88}"/>
              </a:ext>
            </a:extLst>
          </p:cNvPr>
          <p:cNvSpPr txBox="1"/>
          <p:nvPr/>
        </p:nvSpPr>
        <p:spPr>
          <a:xfrm rot="10800000" flipV="1">
            <a:off x="7838174" y="6097988"/>
            <a:ext cx="4427620" cy="338554"/>
          </a:xfrm>
          <a:prstGeom prst="rect">
            <a:avLst/>
          </a:prstGeom>
          <a:noFill/>
        </p:spPr>
        <p:txBody>
          <a:bodyPr wrap="square" rtlCol="0">
            <a:spAutoFit/>
          </a:bodyPr>
          <a:lstStyle/>
          <a:p>
            <a:pPr algn="just"/>
            <a:r>
              <a:rPr lang="en-US" sz="1600" i="1" dirty="0">
                <a:latin typeface="Arial" panose="020B0604020202020204" pitchFamily="34" charset="0"/>
                <a:cs typeface="Arial" panose="020B0604020202020204" pitchFamily="34" charset="0"/>
              </a:rPr>
              <a:t>Done and Presented by Akan </a:t>
            </a:r>
            <a:r>
              <a:rPr lang="en-US" sz="1600" i="1" dirty="0" err="1">
                <a:latin typeface="Arial" panose="020B0604020202020204" pitchFamily="34" charset="0"/>
                <a:cs typeface="Arial" panose="020B0604020202020204" pitchFamily="34" charset="0"/>
              </a:rPr>
              <a:t>Ukpong</a:t>
            </a:r>
            <a:endParaRPr lang="en-US" sz="16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3984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3BB51-8C8C-42C3-A050-61FF541F7D55}"/>
              </a:ext>
            </a:extLst>
          </p:cNvPr>
          <p:cNvSpPr>
            <a:spLocks noGrp="1"/>
          </p:cNvSpPr>
          <p:nvPr>
            <p:ph type="title"/>
          </p:nvPr>
        </p:nvSpPr>
        <p:spPr>
          <a:xfrm>
            <a:off x="838200" y="349083"/>
            <a:ext cx="9268326" cy="789907"/>
          </a:xfrm>
          <a:solidFill>
            <a:schemeClr val="accent1"/>
          </a:solidFill>
        </p:spPr>
        <p:txBody>
          <a:bodyPr>
            <a:normAutofit/>
          </a:bodyPr>
          <a:lstStyle/>
          <a:p>
            <a:r>
              <a:rPr lang="en-US" sz="3200" b="1" dirty="0">
                <a:solidFill>
                  <a:schemeClr val="bg1"/>
                </a:solidFill>
                <a:latin typeface="Arial" panose="020B0604020202020204" pitchFamily="34" charset="0"/>
                <a:cs typeface="Arial" panose="020B0604020202020204" pitchFamily="34" charset="0"/>
              </a:rPr>
              <a:t>PROJECT SCHEDULE: ABOUT THE PROJECT</a:t>
            </a:r>
          </a:p>
        </p:txBody>
      </p:sp>
      <p:sp>
        <p:nvSpPr>
          <p:cNvPr id="5" name="Rectangle 2">
            <a:extLst>
              <a:ext uri="{FF2B5EF4-FFF2-40B4-BE49-F238E27FC236}">
                <a16:creationId xmlns:a16="http://schemas.microsoft.com/office/drawing/2014/main" id="{3CD61BEB-07CA-44C4-9492-371156F757A2}"/>
              </a:ext>
            </a:extLst>
          </p:cNvPr>
          <p:cNvSpPr>
            <a:spLocks noGrp="1" noChangeArrowheads="1"/>
          </p:cNvSpPr>
          <p:nvPr>
            <p:ph idx="1"/>
          </p:nvPr>
        </p:nvSpPr>
        <p:spPr bwMode="auto">
          <a:xfrm>
            <a:off x="797265" y="1979003"/>
            <a:ext cx="11161295"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project ‘Online Sales Report’ is a track 2 capstone project selected from Kaggle.com. the reason I chose to work on this project was because it’s a marketing industry, and their sales record is of concern to me.</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dataset  contains 20 columns and 896100 rows, including key variables such as Invoice number, invoice date, country, shipment provider, warehouse location, order priority,  sales, profit, discount, unit price ,invoice time, etc. I ensured the data was thoroughly cleansed, duplicates were removed, and the correct data types were assigned for analysis.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This dataset aligns with my interest in sales and the retail industry, much like the projects I completed while learning this course. This analysis will help me further hone my analytical skills, enabling me to better understand trends and patterns in the data, which will support more informed decision-making in the future.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F1757264-F959-420F-9A17-99214726A871}"/>
              </a:ext>
            </a:extLst>
          </p:cNvPr>
          <p:cNvSpPr txBox="1"/>
          <p:nvPr/>
        </p:nvSpPr>
        <p:spPr>
          <a:xfrm rot="10800000" flipV="1">
            <a:off x="7796462" y="6364819"/>
            <a:ext cx="4427620" cy="338554"/>
          </a:xfrm>
          <a:prstGeom prst="rect">
            <a:avLst/>
          </a:prstGeom>
          <a:noFill/>
        </p:spPr>
        <p:txBody>
          <a:bodyPr wrap="square" rtlCol="0">
            <a:spAutoFit/>
          </a:bodyPr>
          <a:lstStyle/>
          <a:p>
            <a:pPr algn="just"/>
            <a:r>
              <a:rPr lang="en-US" sz="1600" i="1" dirty="0">
                <a:latin typeface="Arial" panose="020B0604020202020204" pitchFamily="34" charset="0"/>
                <a:cs typeface="Arial" panose="020B0604020202020204" pitchFamily="34" charset="0"/>
              </a:rPr>
              <a:t>Done and Presented by Akan </a:t>
            </a:r>
            <a:r>
              <a:rPr lang="en-US" sz="1600" i="1" dirty="0" err="1">
                <a:latin typeface="Arial" panose="020B0604020202020204" pitchFamily="34" charset="0"/>
                <a:cs typeface="Arial" panose="020B0604020202020204" pitchFamily="34" charset="0"/>
              </a:rPr>
              <a:t>Ukpong</a:t>
            </a:r>
            <a:endParaRPr lang="en-US" sz="1600" i="1" dirty="0">
              <a:latin typeface="Arial" panose="020B0604020202020204" pitchFamily="34" charset="0"/>
              <a:cs typeface="Arial" panose="020B0604020202020204" pitchFamily="34" charset="0"/>
            </a:endParaRPr>
          </a:p>
        </p:txBody>
      </p:sp>
      <p:grpSp>
        <p:nvGrpSpPr>
          <p:cNvPr id="8" name="Group 7">
            <a:extLst>
              <a:ext uri="{FF2B5EF4-FFF2-40B4-BE49-F238E27FC236}">
                <a16:creationId xmlns:a16="http://schemas.microsoft.com/office/drawing/2014/main" id="{FC0B74DD-6CBC-41EA-9EFB-9D1242C9FF84}"/>
              </a:ext>
            </a:extLst>
          </p:cNvPr>
          <p:cNvGrpSpPr/>
          <p:nvPr/>
        </p:nvGrpSpPr>
        <p:grpSpPr>
          <a:xfrm>
            <a:off x="11527083" y="6269220"/>
            <a:ext cx="431477" cy="510215"/>
            <a:chOff x="10331116" y="4140934"/>
            <a:chExt cx="1459831" cy="1598105"/>
          </a:xfrm>
        </p:grpSpPr>
        <p:sp>
          <p:nvSpPr>
            <p:cNvPr id="9" name="Oval 8">
              <a:extLst>
                <a:ext uri="{FF2B5EF4-FFF2-40B4-BE49-F238E27FC236}">
                  <a16:creationId xmlns:a16="http://schemas.microsoft.com/office/drawing/2014/main" id="{943E8466-05C4-4400-9FC9-852BD9301642}"/>
                </a:ext>
              </a:extLst>
            </p:cNvPr>
            <p:cNvSpPr/>
            <p:nvPr/>
          </p:nvSpPr>
          <p:spPr>
            <a:xfrm>
              <a:off x="10331116" y="4140934"/>
              <a:ext cx="1459831" cy="15981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C06655B-5870-4EDF-810A-3BD273D02039}"/>
                </a:ext>
              </a:extLst>
            </p:cNvPr>
            <p:cNvSpPr/>
            <p:nvPr/>
          </p:nvSpPr>
          <p:spPr>
            <a:xfrm>
              <a:off x="10443409" y="4264302"/>
              <a:ext cx="1267327" cy="1366477"/>
            </a:xfrm>
            <a:prstGeom prst="ellipse">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517689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C872B-FCE8-416B-A830-7493B54EAE57}"/>
              </a:ext>
            </a:extLst>
          </p:cNvPr>
          <p:cNvSpPr>
            <a:spLocks noGrp="1"/>
          </p:cNvSpPr>
          <p:nvPr>
            <p:ph type="title"/>
          </p:nvPr>
        </p:nvSpPr>
        <p:spPr>
          <a:xfrm>
            <a:off x="3442502" y="477420"/>
            <a:ext cx="6680066" cy="677612"/>
          </a:xfrm>
          <a:solidFill>
            <a:schemeClr val="accent1"/>
          </a:solidFill>
        </p:spPr>
        <p:txBody>
          <a:bodyPr>
            <a:normAutofit/>
          </a:bodyPr>
          <a:lstStyle/>
          <a:p>
            <a:pPr algn="ctr"/>
            <a:r>
              <a:rPr lang="en-US" sz="3200" b="1" dirty="0">
                <a:solidFill>
                  <a:schemeClr val="bg1"/>
                </a:solidFill>
                <a:latin typeface="Arial" panose="020B0604020202020204" pitchFamily="34" charset="0"/>
                <a:cs typeface="Arial" panose="020B0604020202020204" pitchFamily="34" charset="0"/>
              </a:rPr>
              <a:t>PROJECT TIMELINE</a:t>
            </a:r>
          </a:p>
        </p:txBody>
      </p:sp>
      <p:cxnSp>
        <p:nvCxnSpPr>
          <p:cNvPr id="5" name="Straight Connector 4">
            <a:extLst>
              <a:ext uri="{FF2B5EF4-FFF2-40B4-BE49-F238E27FC236}">
                <a16:creationId xmlns:a16="http://schemas.microsoft.com/office/drawing/2014/main" id="{FF5C766F-798C-4F94-9A10-2203168B2AD9}"/>
              </a:ext>
            </a:extLst>
          </p:cNvPr>
          <p:cNvCxnSpPr>
            <a:cxnSpLocks/>
          </p:cNvCxnSpPr>
          <p:nvPr/>
        </p:nvCxnSpPr>
        <p:spPr>
          <a:xfrm>
            <a:off x="1588168" y="2245895"/>
            <a:ext cx="0" cy="301591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2D2152A-1F85-4DAE-82B1-C40A88A09363}"/>
              </a:ext>
            </a:extLst>
          </p:cNvPr>
          <p:cNvCxnSpPr>
            <a:cxnSpLocks/>
          </p:cNvCxnSpPr>
          <p:nvPr/>
        </p:nvCxnSpPr>
        <p:spPr>
          <a:xfrm flipH="1">
            <a:off x="1604224" y="5205141"/>
            <a:ext cx="2638924" cy="2458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F4B0B89-25E6-45EE-B043-C43E9E1E7479}"/>
              </a:ext>
            </a:extLst>
          </p:cNvPr>
          <p:cNvCxnSpPr>
            <a:cxnSpLocks/>
          </p:cNvCxnSpPr>
          <p:nvPr/>
        </p:nvCxnSpPr>
        <p:spPr>
          <a:xfrm flipV="1">
            <a:off x="9296399" y="2245895"/>
            <a:ext cx="1" cy="288758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E1659D2-7B1F-4CDB-B859-72E8778F544F}"/>
              </a:ext>
            </a:extLst>
          </p:cNvPr>
          <p:cNvCxnSpPr>
            <a:cxnSpLocks/>
          </p:cNvCxnSpPr>
          <p:nvPr/>
        </p:nvCxnSpPr>
        <p:spPr>
          <a:xfrm flipH="1">
            <a:off x="6862574" y="5109411"/>
            <a:ext cx="2433827" cy="54151"/>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247F92D7-99DA-4AE5-9115-58952978D521}"/>
              </a:ext>
            </a:extLst>
          </p:cNvPr>
          <p:cNvSpPr/>
          <p:nvPr/>
        </p:nvSpPr>
        <p:spPr>
          <a:xfrm>
            <a:off x="4227093" y="3689683"/>
            <a:ext cx="2654968" cy="2642760"/>
          </a:xfrm>
          <a:prstGeom prst="ellipse">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E64D2526-5693-4266-94D1-6C910D841D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3994" y="4163148"/>
            <a:ext cx="1681679" cy="1681679"/>
          </a:xfrm>
          <a:prstGeom prst="rect">
            <a:avLst/>
          </a:prstGeom>
        </p:spPr>
      </p:pic>
      <p:sp>
        <p:nvSpPr>
          <p:cNvPr id="29" name="TextBox 28">
            <a:extLst>
              <a:ext uri="{FF2B5EF4-FFF2-40B4-BE49-F238E27FC236}">
                <a16:creationId xmlns:a16="http://schemas.microsoft.com/office/drawing/2014/main" id="{87B076DF-0973-4572-B2DA-B49410827DD7}"/>
              </a:ext>
            </a:extLst>
          </p:cNvPr>
          <p:cNvSpPr txBox="1"/>
          <p:nvPr/>
        </p:nvSpPr>
        <p:spPr>
          <a:xfrm>
            <a:off x="2211977" y="1792385"/>
            <a:ext cx="1411705" cy="369332"/>
          </a:xfrm>
          <a:prstGeom prst="rect">
            <a:avLst/>
          </a:prstGeom>
          <a:noFill/>
        </p:spPr>
        <p:txBody>
          <a:bodyPr wrap="square" rtlCol="0">
            <a:spAutoFit/>
          </a:bodyPr>
          <a:lstStyle/>
          <a:p>
            <a:r>
              <a:rPr lang="en-US" b="1" dirty="0">
                <a:solidFill>
                  <a:schemeClr val="accent1"/>
                </a:solidFill>
                <a:latin typeface="Arial" panose="020B0604020202020204" pitchFamily="34" charset="0"/>
                <a:cs typeface="Arial" panose="020B0604020202020204" pitchFamily="34" charset="0"/>
              </a:rPr>
              <a:t>Week 1</a:t>
            </a:r>
          </a:p>
        </p:txBody>
      </p:sp>
      <p:sp>
        <p:nvSpPr>
          <p:cNvPr id="31" name="TextBox 30">
            <a:extLst>
              <a:ext uri="{FF2B5EF4-FFF2-40B4-BE49-F238E27FC236}">
                <a16:creationId xmlns:a16="http://schemas.microsoft.com/office/drawing/2014/main" id="{432F702B-4C1F-4343-A7E5-C6462A58C76B}"/>
              </a:ext>
            </a:extLst>
          </p:cNvPr>
          <p:cNvSpPr txBox="1"/>
          <p:nvPr/>
        </p:nvSpPr>
        <p:spPr>
          <a:xfrm>
            <a:off x="2164766" y="2161717"/>
            <a:ext cx="2613036" cy="1077218"/>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Gather the needed data for the analysis that will answer the business question.</a:t>
            </a:r>
          </a:p>
        </p:txBody>
      </p:sp>
      <p:sp>
        <p:nvSpPr>
          <p:cNvPr id="32" name="TextBox 31">
            <a:extLst>
              <a:ext uri="{FF2B5EF4-FFF2-40B4-BE49-F238E27FC236}">
                <a16:creationId xmlns:a16="http://schemas.microsoft.com/office/drawing/2014/main" id="{D63E7D3C-DA05-4D49-866B-B71F9C5E6C30}"/>
              </a:ext>
            </a:extLst>
          </p:cNvPr>
          <p:cNvSpPr txBox="1"/>
          <p:nvPr/>
        </p:nvSpPr>
        <p:spPr>
          <a:xfrm>
            <a:off x="6209211" y="1800379"/>
            <a:ext cx="1411705" cy="369332"/>
          </a:xfrm>
          <a:prstGeom prst="rect">
            <a:avLst/>
          </a:prstGeom>
          <a:noFill/>
        </p:spPr>
        <p:txBody>
          <a:bodyPr wrap="square" rtlCol="0">
            <a:spAutoFit/>
          </a:bodyPr>
          <a:lstStyle/>
          <a:p>
            <a:r>
              <a:rPr lang="en-US" b="1" dirty="0">
                <a:solidFill>
                  <a:schemeClr val="accent1"/>
                </a:solidFill>
                <a:latin typeface="Arial" panose="020B0604020202020204" pitchFamily="34" charset="0"/>
                <a:cs typeface="Arial" panose="020B0604020202020204" pitchFamily="34" charset="0"/>
              </a:rPr>
              <a:t>Week 2</a:t>
            </a:r>
          </a:p>
        </p:txBody>
      </p:sp>
      <p:sp>
        <p:nvSpPr>
          <p:cNvPr id="33" name="TextBox 32">
            <a:extLst>
              <a:ext uri="{FF2B5EF4-FFF2-40B4-BE49-F238E27FC236}">
                <a16:creationId xmlns:a16="http://schemas.microsoft.com/office/drawing/2014/main" id="{AE1A0283-5F0C-4629-A77F-F3161DBD5E9C}"/>
              </a:ext>
            </a:extLst>
          </p:cNvPr>
          <p:cNvSpPr txBox="1"/>
          <p:nvPr/>
        </p:nvSpPr>
        <p:spPr>
          <a:xfrm>
            <a:off x="6211552" y="2169711"/>
            <a:ext cx="2613036" cy="1077218"/>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Start cleaning the data to make it useful for the analysis, Query it if need be.</a:t>
            </a:r>
          </a:p>
        </p:txBody>
      </p:sp>
      <p:sp>
        <p:nvSpPr>
          <p:cNvPr id="34" name="TextBox 33">
            <a:extLst>
              <a:ext uri="{FF2B5EF4-FFF2-40B4-BE49-F238E27FC236}">
                <a16:creationId xmlns:a16="http://schemas.microsoft.com/office/drawing/2014/main" id="{4FDA1171-5BE5-4925-92B4-6A8C8608E104}"/>
              </a:ext>
            </a:extLst>
          </p:cNvPr>
          <p:cNvSpPr txBox="1"/>
          <p:nvPr/>
        </p:nvSpPr>
        <p:spPr>
          <a:xfrm>
            <a:off x="9824685" y="1868358"/>
            <a:ext cx="1411705" cy="369332"/>
          </a:xfrm>
          <a:prstGeom prst="rect">
            <a:avLst/>
          </a:prstGeom>
          <a:noFill/>
        </p:spPr>
        <p:txBody>
          <a:bodyPr wrap="square" rtlCol="0">
            <a:spAutoFit/>
          </a:bodyPr>
          <a:lstStyle/>
          <a:p>
            <a:r>
              <a:rPr lang="en-US" b="1" dirty="0">
                <a:solidFill>
                  <a:schemeClr val="accent1"/>
                </a:solidFill>
                <a:latin typeface="Arial" panose="020B0604020202020204" pitchFamily="34" charset="0"/>
                <a:cs typeface="Arial" panose="020B0604020202020204" pitchFamily="34" charset="0"/>
              </a:rPr>
              <a:t>Week 3</a:t>
            </a:r>
          </a:p>
        </p:txBody>
      </p:sp>
      <p:sp>
        <p:nvSpPr>
          <p:cNvPr id="35" name="TextBox 34">
            <a:extLst>
              <a:ext uri="{FF2B5EF4-FFF2-40B4-BE49-F238E27FC236}">
                <a16:creationId xmlns:a16="http://schemas.microsoft.com/office/drawing/2014/main" id="{E8839CE4-EAC3-48DF-9BFB-E2D7F38B2F1A}"/>
              </a:ext>
            </a:extLst>
          </p:cNvPr>
          <p:cNvSpPr txBox="1"/>
          <p:nvPr/>
        </p:nvSpPr>
        <p:spPr>
          <a:xfrm>
            <a:off x="9628374" y="2239883"/>
            <a:ext cx="2613036" cy="830997"/>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Start and finish my analysis and provide the dashboard and report</a:t>
            </a:r>
          </a:p>
        </p:txBody>
      </p:sp>
      <p:sp>
        <p:nvSpPr>
          <p:cNvPr id="36" name="TextBox 35">
            <a:extLst>
              <a:ext uri="{FF2B5EF4-FFF2-40B4-BE49-F238E27FC236}">
                <a16:creationId xmlns:a16="http://schemas.microsoft.com/office/drawing/2014/main" id="{84676370-A703-4652-97F1-D31167829823}"/>
              </a:ext>
            </a:extLst>
          </p:cNvPr>
          <p:cNvSpPr txBox="1"/>
          <p:nvPr/>
        </p:nvSpPr>
        <p:spPr>
          <a:xfrm rot="10800000" flipV="1">
            <a:off x="7603958" y="6306610"/>
            <a:ext cx="3962400" cy="338554"/>
          </a:xfrm>
          <a:prstGeom prst="rect">
            <a:avLst/>
          </a:prstGeom>
          <a:noFill/>
        </p:spPr>
        <p:txBody>
          <a:bodyPr wrap="square" rtlCol="0">
            <a:spAutoFit/>
          </a:bodyPr>
          <a:lstStyle/>
          <a:p>
            <a:pPr algn="just"/>
            <a:r>
              <a:rPr lang="en-US" sz="1600" i="1" dirty="0">
                <a:latin typeface="Arial" panose="020B0604020202020204" pitchFamily="34" charset="0"/>
                <a:cs typeface="Arial" panose="020B0604020202020204" pitchFamily="34" charset="0"/>
              </a:rPr>
              <a:t>Done and Presented by Akan </a:t>
            </a:r>
            <a:r>
              <a:rPr lang="en-US" sz="1600" i="1" dirty="0" err="1">
                <a:latin typeface="Arial" panose="020B0604020202020204" pitchFamily="34" charset="0"/>
                <a:cs typeface="Arial" panose="020B0604020202020204" pitchFamily="34" charset="0"/>
              </a:rPr>
              <a:t>Ukpong</a:t>
            </a:r>
            <a:endParaRPr lang="en-US" sz="1600" i="1" dirty="0">
              <a:latin typeface="Arial" panose="020B0604020202020204" pitchFamily="34" charset="0"/>
              <a:cs typeface="Arial" panose="020B0604020202020204" pitchFamily="34" charset="0"/>
            </a:endParaRPr>
          </a:p>
        </p:txBody>
      </p:sp>
      <p:grpSp>
        <p:nvGrpSpPr>
          <p:cNvPr id="37" name="Group 36">
            <a:extLst>
              <a:ext uri="{FF2B5EF4-FFF2-40B4-BE49-F238E27FC236}">
                <a16:creationId xmlns:a16="http://schemas.microsoft.com/office/drawing/2014/main" id="{91117C66-F80A-471D-BDFC-599BDE6ECEA0}"/>
              </a:ext>
            </a:extLst>
          </p:cNvPr>
          <p:cNvGrpSpPr/>
          <p:nvPr/>
        </p:nvGrpSpPr>
        <p:grpSpPr>
          <a:xfrm>
            <a:off x="11350621" y="6237136"/>
            <a:ext cx="431477" cy="510215"/>
            <a:chOff x="10331116" y="4140934"/>
            <a:chExt cx="1459831" cy="1598105"/>
          </a:xfrm>
        </p:grpSpPr>
        <p:sp>
          <p:nvSpPr>
            <p:cNvPr id="38" name="Oval 37">
              <a:extLst>
                <a:ext uri="{FF2B5EF4-FFF2-40B4-BE49-F238E27FC236}">
                  <a16:creationId xmlns:a16="http://schemas.microsoft.com/office/drawing/2014/main" id="{3F628FCE-E719-4A90-8BC0-A59DBAEB0F08}"/>
                </a:ext>
              </a:extLst>
            </p:cNvPr>
            <p:cNvSpPr/>
            <p:nvPr/>
          </p:nvSpPr>
          <p:spPr>
            <a:xfrm>
              <a:off x="10331116" y="4140934"/>
              <a:ext cx="1459831" cy="15981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A834FDE9-5C1B-46E2-9EB7-BBF0F4535A65}"/>
                </a:ext>
              </a:extLst>
            </p:cNvPr>
            <p:cNvSpPr/>
            <p:nvPr/>
          </p:nvSpPr>
          <p:spPr>
            <a:xfrm>
              <a:off x="10443409" y="4264302"/>
              <a:ext cx="1267327" cy="1366477"/>
            </a:xfrm>
            <a:prstGeom prst="ellipse">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 name="Group 65">
            <a:extLst>
              <a:ext uri="{FF2B5EF4-FFF2-40B4-BE49-F238E27FC236}">
                <a16:creationId xmlns:a16="http://schemas.microsoft.com/office/drawing/2014/main" id="{5C93FCBB-0F0B-4ABB-B04E-045298254B7B}"/>
              </a:ext>
            </a:extLst>
          </p:cNvPr>
          <p:cNvGrpSpPr/>
          <p:nvPr/>
        </p:nvGrpSpPr>
        <p:grpSpPr>
          <a:xfrm>
            <a:off x="5229268" y="1628497"/>
            <a:ext cx="854688" cy="835887"/>
            <a:chOff x="5229268" y="1628497"/>
            <a:chExt cx="854688" cy="835887"/>
          </a:xfrm>
        </p:grpSpPr>
        <p:sp>
          <p:nvSpPr>
            <p:cNvPr id="59" name="Oval 58">
              <a:extLst>
                <a:ext uri="{FF2B5EF4-FFF2-40B4-BE49-F238E27FC236}">
                  <a16:creationId xmlns:a16="http://schemas.microsoft.com/office/drawing/2014/main" id="{A9B465E5-B216-4B74-8A19-EC04968B4985}"/>
                </a:ext>
              </a:extLst>
            </p:cNvPr>
            <p:cNvSpPr/>
            <p:nvPr/>
          </p:nvSpPr>
          <p:spPr>
            <a:xfrm>
              <a:off x="5229268" y="1628497"/>
              <a:ext cx="854688" cy="835887"/>
            </a:xfrm>
            <a:prstGeom prst="ellipse">
              <a:avLst/>
            </a:prstGeom>
            <a:solidFill>
              <a:schemeClr val="accent1">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Oval 62">
              <a:extLst>
                <a:ext uri="{FF2B5EF4-FFF2-40B4-BE49-F238E27FC236}">
                  <a16:creationId xmlns:a16="http://schemas.microsoft.com/office/drawing/2014/main" id="{AB0694D5-3178-49C2-8918-04841122A898}"/>
                </a:ext>
              </a:extLst>
            </p:cNvPr>
            <p:cNvSpPr/>
            <p:nvPr/>
          </p:nvSpPr>
          <p:spPr>
            <a:xfrm>
              <a:off x="5305263" y="1731152"/>
              <a:ext cx="702698" cy="6305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a:extLst>
              <a:ext uri="{FF2B5EF4-FFF2-40B4-BE49-F238E27FC236}">
                <a16:creationId xmlns:a16="http://schemas.microsoft.com/office/drawing/2014/main" id="{9FD6FCC4-7A5C-4DA9-917C-5C0FF755433E}"/>
              </a:ext>
            </a:extLst>
          </p:cNvPr>
          <p:cNvGrpSpPr/>
          <p:nvPr/>
        </p:nvGrpSpPr>
        <p:grpSpPr>
          <a:xfrm>
            <a:off x="1144091" y="1628274"/>
            <a:ext cx="854688" cy="835887"/>
            <a:chOff x="5229268" y="1628497"/>
            <a:chExt cx="854688" cy="835887"/>
          </a:xfrm>
        </p:grpSpPr>
        <p:sp>
          <p:nvSpPr>
            <p:cNvPr id="68" name="Oval 67">
              <a:extLst>
                <a:ext uri="{FF2B5EF4-FFF2-40B4-BE49-F238E27FC236}">
                  <a16:creationId xmlns:a16="http://schemas.microsoft.com/office/drawing/2014/main" id="{CD10233B-2FD3-444E-800D-F1DD1438ADBC}"/>
                </a:ext>
              </a:extLst>
            </p:cNvPr>
            <p:cNvSpPr/>
            <p:nvPr/>
          </p:nvSpPr>
          <p:spPr>
            <a:xfrm>
              <a:off x="5229268" y="1628497"/>
              <a:ext cx="854688" cy="835887"/>
            </a:xfrm>
            <a:prstGeom prst="ellipse">
              <a:avLst/>
            </a:prstGeom>
            <a:solidFill>
              <a:schemeClr val="accent1">
                <a:lumMod val="20000"/>
                <a:lumOff val="80000"/>
              </a:scheme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Oval 68">
              <a:extLst>
                <a:ext uri="{FF2B5EF4-FFF2-40B4-BE49-F238E27FC236}">
                  <a16:creationId xmlns:a16="http://schemas.microsoft.com/office/drawing/2014/main" id="{A57C4465-D40D-48B9-86A7-D62821214AC5}"/>
                </a:ext>
              </a:extLst>
            </p:cNvPr>
            <p:cNvSpPr/>
            <p:nvPr/>
          </p:nvSpPr>
          <p:spPr>
            <a:xfrm>
              <a:off x="5305263" y="1731152"/>
              <a:ext cx="702698" cy="63057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2" name="Oval 71">
            <a:extLst>
              <a:ext uri="{FF2B5EF4-FFF2-40B4-BE49-F238E27FC236}">
                <a16:creationId xmlns:a16="http://schemas.microsoft.com/office/drawing/2014/main" id="{EF84AD01-4400-49F9-99CA-90EE5F980D9A}"/>
              </a:ext>
            </a:extLst>
          </p:cNvPr>
          <p:cNvSpPr/>
          <p:nvPr/>
        </p:nvSpPr>
        <p:spPr>
          <a:xfrm>
            <a:off x="8889337" y="1628274"/>
            <a:ext cx="808710" cy="7332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6622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A32E2FB-66B4-4D4D-93EE-65795C331ACD}"/>
              </a:ext>
            </a:extLst>
          </p:cNvPr>
          <p:cNvSpPr>
            <a:spLocks noGrp="1"/>
          </p:cNvSpPr>
          <p:nvPr>
            <p:ph type="subTitle" idx="1"/>
          </p:nvPr>
        </p:nvSpPr>
        <p:spPr>
          <a:xfrm>
            <a:off x="994611" y="1290626"/>
            <a:ext cx="10764251" cy="4356194"/>
          </a:xfrm>
        </p:spPr>
        <p:txBody>
          <a:bodyPr>
            <a:noAutofit/>
          </a:bodyPr>
          <a:lstStyle/>
          <a:p>
            <a:pPr algn="l"/>
            <a:r>
              <a:rPr lang="en-US" b="1" dirty="0">
                <a:latin typeface="Arial" panose="020B0604020202020204" pitchFamily="34" charset="0"/>
                <a:cs typeface="Arial" panose="020B0604020202020204" pitchFamily="34" charset="0"/>
              </a:rPr>
              <a:t>✅ Key Findings</a:t>
            </a:r>
          </a:p>
          <a:p>
            <a:pPr algn="l">
              <a:buFont typeface="Arial" panose="020B0604020202020204" pitchFamily="34" charset="0"/>
              <a:buChar char="•"/>
            </a:pPr>
            <a:r>
              <a:rPr lang="en-US" dirty="0">
                <a:latin typeface="Arial" panose="020B0604020202020204" pitchFamily="34" charset="0"/>
                <a:cs typeface="Arial" panose="020B0604020202020204" pitchFamily="34" charset="0"/>
              </a:rPr>
              <a:t>Sales performance shows </a:t>
            </a:r>
            <a:r>
              <a:rPr lang="en-US" b="1" dirty="0">
                <a:latin typeface="Arial" panose="020B0604020202020204" pitchFamily="34" charset="0"/>
                <a:cs typeface="Arial" panose="020B0604020202020204" pitchFamily="34" charset="0"/>
              </a:rPr>
              <a:t>uneven trends</a:t>
            </a:r>
            <a:r>
              <a:rPr lang="en-US" dirty="0">
                <a:latin typeface="Arial" panose="020B0604020202020204" pitchFamily="34" charset="0"/>
                <a:cs typeface="Arial" panose="020B0604020202020204" pitchFamily="34" charset="0"/>
              </a:rPr>
              <a:t>, with specific products and periods contributing the highest revenue.</a:t>
            </a:r>
          </a:p>
          <a:p>
            <a:pPr algn="l">
              <a:buFont typeface="Arial" panose="020B0604020202020204" pitchFamily="34" charset="0"/>
              <a:buChar char="•"/>
            </a:pPr>
            <a:r>
              <a:rPr lang="en-US" dirty="0">
                <a:latin typeface="Arial" panose="020B0604020202020204" pitchFamily="34" charset="0"/>
                <a:cs typeface="Arial" panose="020B0604020202020204" pitchFamily="34" charset="0"/>
              </a:rPr>
              <a:t>A small number of products generate the </a:t>
            </a:r>
            <a:r>
              <a:rPr lang="en-US" b="1" dirty="0">
                <a:latin typeface="Arial" panose="020B0604020202020204" pitchFamily="34" charset="0"/>
                <a:cs typeface="Arial" panose="020B0604020202020204" pitchFamily="34" charset="0"/>
              </a:rPr>
              <a:t>largest portion of total sales</a:t>
            </a:r>
            <a:r>
              <a:rPr lang="en-US" dirty="0">
                <a:latin typeface="Arial" panose="020B0604020202020204" pitchFamily="34" charset="0"/>
                <a:cs typeface="Arial" panose="020B0604020202020204" pitchFamily="34" charset="0"/>
              </a:rPr>
              <a:t>, indicating clear top performers.</a:t>
            </a:r>
          </a:p>
          <a:p>
            <a:pPr algn="l">
              <a:buFont typeface="Arial" panose="020B0604020202020204" pitchFamily="34" charset="0"/>
              <a:buChar char="•"/>
            </a:pPr>
            <a:r>
              <a:rPr lang="en-US" dirty="0">
                <a:latin typeface="Arial" panose="020B0604020202020204" pitchFamily="34" charset="0"/>
                <a:cs typeface="Arial" panose="020B0604020202020204" pitchFamily="34" charset="0"/>
              </a:rPr>
              <a:t>Certain customer segments and regions account for </a:t>
            </a:r>
            <a:r>
              <a:rPr lang="en-US" b="1" dirty="0">
                <a:latin typeface="Arial" panose="020B0604020202020204" pitchFamily="34" charset="0"/>
                <a:cs typeface="Arial" panose="020B0604020202020204" pitchFamily="34" charset="0"/>
              </a:rPr>
              <a:t>higher average order values</a:t>
            </a:r>
            <a:r>
              <a:rPr lang="en-US" dirty="0">
                <a:latin typeface="Arial" panose="020B0604020202020204" pitchFamily="34" charset="0"/>
                <a:cs typeface="Arial" panose="020B0604020202020204" pitchFamily="34" charset="0"/>
              </a:rPr>
              <a:t>.</a:t>
            </a:r>
          </a:p>
          <a:p>
            <a:pPr algn="l">
              <a:buFont typeface="Arial" panose="020B0604020202020204" pitchFamily="34" charset="0"/>
              <a:buChar char="•"/>
            </a:pPr>
            <a:r>
              <a:rPr lang="en-US" dirty="0">
                <a:latin typeface="Arial" panose="020B0604020202020204" pitchFamily="34" charset="0"/>
                <a:cs typeface="Arial" panose="020B0604020202020204" pitchFamily="34" charset="0"/>
              </a:rPr>
              <a:t>Some marketing channels drive </a:t>
            </a:r>
            <a:r>
              <a:rPr lang="en-US" b="1" dirty="0">
                <a:latin typeface="Arial" panose="020B0604020202020204" pitchFamily="34" charset="0"/>
                <a:cs typeface="Arial" panose="020B0604020202020204" pitchFamily="34" charset="0"/>
              </a:rPr>
              <a:t>higher conversion and revenue</a:t>
            </a:r>
            <a:r>
              <a:rPr lang="en-US" dirty="0">
                <a:latin typeface="Arial" panose="020B0604020202020204" pitchFamily="34" charset="0"/>
                <a:cs typeface="Arial" panose="020B0604020202020204" pitchFamily="34" charset="0"/>
              </a:rPr>
              <a:t>, while others underperform.</a:t>
            </a:r>
          </a:p>
          <a:p>
            <a:pPr marL="285750" indent="-285750" algn="just">
              <a:lnSpc>
                <a:spcPct val="100000"/>
              </a:lnSpc>
              <a:buClr>
                <a:schemeClr val="accent1"/>
              </a:buClr>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06BAE0B-6DDB-4BE3-BC80-1876E09EAE67}"/>
              </a:ext>
            </a:extLst>
          </p:cNvPr>
          <p:cNvSpPr txBox="1"/>
          <p:nvPr/>
        </p:nvSpPr>
        <p:spPr>
          <a:xfrm>
            <a:off x="994612" y="417095"/>
            <a:ext cx="7780420" cy="584775"/>
          </a:xfrm>
          <a:prstGeom prst="rect">
            <a:avLst/>
          </a:prstGeom>
          <a:solidFill>
            <a:schemeClr val="accent1"/>
          </a:solidFill>
        </p:spPr>
        <p:txBody>
          <a:bodyPr wrap="square" rtlCol="0">
            <a:spAutoFit/>
          </a:bodyPr>
          <a:lstStyle/>
          <a:p>
            <a:r>
              <a:rPr lang="en-US" sz="3200" b="1" dirty="0">
                <a:solidFill>
                  <a:schemeClr val="bg1"/>
                </a:solidFill>
                <a:latin typeface="Arial" panose="020B0604020202020204" pitchFamily="34" charset="0"/>
                <a:cs typeface="Arial" panose="020B0604020202020204" pitchFamily="34" charset="0"/>
              </a:rPr>
              <a:t>  </a:t>
            </a:r>
            <a:r>
              <a:rPr lang="en-US" sz="2800" b="1" dirty="0"/>
              <a:t>IMPROVING SALES AND MARKETING STRATEGIES</a:t>
            </a:r>
            <a:endParaRPr lang="en-US" sz="2800" b="1" dirty="0">
              <a:solidFill>
                <a:schemeClr val="bg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9148B2C-9C1F-4743-827D-FD84E2D24B58}"/>
              </a:ext>
            </a:extLst>
          </p:cNvPr>
          <p:cNvSpPr txBox="1"/>
          <p:nvPr/>
        </p:nvSpPr>
        <p:spPr>
          <a:xfrm rot="10800000" flipV="1">
            <a:off x="7603958" y="6306610"/>
            <a:ext cx="3962400" cy="338554"/>
          </a:xfrm>
          <a:prstGeom prst="rect">
            <a:avLst/>
          </a:prstGeom>
          <a:noFill/>
        </p:spPr>
        <p:txBody>
          <a:bodyPr wrap="square" rtlCol="0">
            <a:spAutoFit/>
          </a:bodyPr>
          <a:lstStyle/>
          <a:p>
            <a:pPr algn="just"/>
            <a:r>
              <a:rPr lang="en-US" sz="1600" i="1" dirty="0">
                <a:latin typeface="Arial" panose="020B0604020202020204" pitchFamily="34" charset="0"/>
                <a:cs typeface="Arial" panose="020B0604020202020204" pitchFamily="34" charset="0"/>
              </a:rPr>
              <a:t>Done and Presented by Akan </a:t>
            </a:r>
            <a:r>
              <a:rPr lang="en-US" sz="1600" i="1" dirty="0" err="1">
                <a:latin typeface="Arial" panose="020B0604020202020204" pitchFamily="34" charset="0"/>
                <a:cs typeface="Arial" panose="020B0604020202020204" pitchFamily="34" charset="0"/>
              </a:rPr>
              <a:t>Ukpong</a:t>
            </a:r>
            <a:endParaRPr lang="en-US" sz="1600" i="1" dirty="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851251BB-5905-41E6-99A1-0AE91382D903}"/>
              </a:ext>
            </a:extLst>
          </p:cNvPr>
          <p:cNvGrpSpPr/>
          <p:nvPr/>
        </p:nvGrpSpPr>
        <p:grpSpPr>
          <a:xfrm>
            <a:off x="11350621" y="6237136"/>
            <a:ext cx="431477" cy="510215"/>
            <a:chOff x="10331116" y="4140934"/>
            <a:chExt cx="1459831" cy="1598105"/>
          </a:xfrm>
        </p:grpSpPr>
        <p:sp>
          <p:nvSpPr>
            <p:cNvPr id="10" name="Oval 9">
              <a:extLst>
                <a:ext uri="{FF2B5EF4-FFF2-40B4-BE49-F238E27FC236}">
                  <a16:creationId xmlns:a16="http://schemas.microsoft.com/office/drawing/2014/main" id="{5C7D2D33-690F-4D44-BE6A-372EC7A285E0}"/>
                </a:ext>
              </a:extLst>
            </p:cNvPr>
            <p:cNvSpPr/>
            <p:nvPr/>
          </p:nvSpPr>
          <p:spPr>
            <a:xfrm>
              <a:off x="10331116" y="4140934"/>
              <a:ext cx="1459831" cy="15981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2732164-7497-4C2A-A416-D705DC15AFC4}"/>
                </a:ext>
              </a:extLst>
            </p:cNvPr>
            <p:cNvSpPr/>
            <p:nvPr/>
          </p:nvSpPr>
          <p:spPr>
            <a:xfrm>
              <a:off x="10443409" y="4264302"/>
              <a:ext cx="1267327" cy="1366477"/>
            </a:xfrm>
            <a:prstGeom prst="ellipse">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329094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A32E2FB-66B4-4D4D-93EE-65795C331ACD}"/>
              </a:ext>
            </a:extLst>
          </p:cNvPr>
          <p:cNvSpPr>
            <a:spLocks noGrp="1"/>
          </p:cNvSpPr>
          <p:nvPr>
            <p:ph type="subTitle" idx="1"/>
          </p:nvPr>
        </p:nvSpPr>
        <p:spPr>
          <a:xfrm>
            <a:off x="994611" y="1290626"/>
            <a:ext cx="10764251" cy="4356194"/>
          </a:xfrm>
        </p:spPr>
        <p:txBody>
          <a:bodyPr>
            <a:no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b="1" dirty="0">
                <a:latin typeface="Arial" panose="020B0604020202020204" pitchFamily="34" charset="0"/>
                <a:cs typeface="Arial" panose="020B0604020202020204" pitchFamily="34" charset="0"/>
              </a:rPr>
              <a:t>✅ </a:t>
            </a:r>
            <a:r>
              <a:rPr kumimoji="0" lang="en-NG" altLang="en-NG" sz="2400" b="0" i="0" u="none" strike="noStrike" cap="none" normalizeH="0" baseline="0" dirty="0">
                <a:ln>
                  <a:noFill/>
                </a:ln>
                <a:solidFill>
                  <a:schemeClr val="tx1"/>
                </a:solidFill>
                <a:effectLst/>
                <a:latin typeface="Arial" panose="020B0604020202020204" pitchFamily="34" charset="0"/>
              </a:rPr>
              <a:t>Monthly sales pivots revealed </a:t>
            </a:r>
            <a:r>
              <a:rPr kumimoji="0" lang="en-NG" altLang="en-NG" sz="2400" b="1" i="0" u="none" strike="noStrike" cap="none" normalizeH="0" baseline="0" dirty="0">
                <a:ln>
                  <a:noFill/>
                </a:ln>
                <a:solidFill>
                  <a:schemeClr val="tx1"/>
                </a:solidFill>
                <a:effectLst/>
                <a:latin typeface="Arial" panose="020B0604020202020204" pitchFamily="34" charset="0"/>
              </a:rPr>
              <a:t>peak sales periods</a:t>
            </a:r>
            <a:r>
              <a:rPr kumimoji="0" lang="en-NG" altLang="en-NG" sz="2400" b="0" i="0" u="none" strike="noStrike" cap="none" normalizeH="0" baseline="0" dirty="0">
                <a:ln>
                  <a:noFill/>
                </a:ln>
                <a:solidFill>
                  <a:schemeClr val="tx1"/>
                </a:solidFill>
                <a:effectLst/>
                <a:latin typeface="Arial" panose="020B0604020202020204" pitchFamily="34" charset="0"/>
              </a:rPr>
              <a:t>, suggesting seasonal buying </a:t>
            </a:r>
            <a:r>
              <a:rPr kumimoji="0" lang="en-NG" altLang="en-NG" sz="2400" b="0" i="0" u="none" strike="noStrike" cap="none" normalizeH="0" baseline="0" dirty="0" err="1">
                <a:ln>
                  <a:noFill/>
                </a:ln>
                <a:solidFill>
                  <a:schemeClr val="tx1"/>
                </a:solidFill>
                <a:effectLst/>
                <a:latin typeface="Arial" panose="020B0604020202020204" pitchFamily="34" charset="0"/>
              </a:rPr>
              <a:t>behavior</a:t>
            </a:r>
            <a:r>
              <a:rPr kumimoji="0" lang="en-NG" altLang="en-NG"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G" altLang="en-NG" sz="2400" b="0" i="0" u="none" strike="noStrike" cap="none" normalizeH="0" baseline="0" dirty="0">
                <a:ln>
                  <a:noFill/>
                </a:ln>
                <a:solidFill>
                  <a:schemeClr val="tx1"/>
                </a:solidFill>
                <a:effectLst/>
                <a:latin typeface="Arial" panose="020B0604020202020204" pitchFamily="34" charset="0"/>
              </a:rPr>
              <a:t>Product-based pivots identified </a:t>
            </a:r>
            <a:r>
              <a:rPr kumimoji="0" lang="en-NG" altLang="en-NG" sz="2400" b="1" i="0" u="none" strike="noStrike" cap="none" normalizeH="0" baseline="0" dirty="0">
                <a:ln>
                  <a:noFill/>
                </a:ln>
                <a:solidFill>
                  <a:schemeClr val="tx1"/>
                </a:solidFill>
                <a:effectLst/>
                <a:latin typeface="Arial" panose="020B0604020202020204" pitchFamily="34" charset="0"/>
              </a:rPr>
              <a:t>high-demand products</a:t>
            </a:r>
            <a:r>
              <a:rPr kumimoji="0" lang="en-NG" altLang="en-NG" sz="2400" b="0" i="0" u="none" strike="noStrike" cap="none" normalizeH="0" baseline="0" dirty="0">
                <a:ln>
                  <a:noFill/>
                </a:ln>
                <a:solidFill>
                  <a:schemeClr val="tx1"/>
                </a:solidFill>
                <a:effectLst/>
                <a:latin typeface="Arial" panose="020B0604020202020204" pitchFamily="34" charset="0"/>
              </a:rPr>
              <a:t> and low-performing items.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G" altLang="en-NG" sz="2400" b="0" i="0" u="none" strike="noStrike" cap="none" normalizeH="0" baseline="0" dirty="0">
                <a:ln>
                  <a:noFill/>
                </a:ln>
                <a:solidFill>
                  <a:schemeClr val="tx1"/>
                </a:solidFill>
                <a:effectLst/>
                <a:latin typeface="Arial" panose="020B0604020202020204" pitchFamily="34" charset="0"/>
              </a:rPr>
              <a:t>Customer segmentation pivots showed </a:t>
            </a:r>
            <a:r>
              <a:rPr kumimoji="0" lang="en-NG" altLang="en-NG" sz="2400" b="1" i="0" u="none" strike="noStrike" cap="none" normalizeH="0" baseline="0" dirty="0">
                <a:ln>
                  <a:noFill/>
                </a:ln>
                <a:solidFill>
                  <a:schemeClr val="tx1"/>
                </a:solidFill>
                <a:effectLst/>
                <a:latin typeface="Arial" panose="020B0604020202020204" pitchFamily="34" charset="0"/>
              </a:rPr>
              <a:t>repeat customers contribute significantly more revenue</a:t>
            </a:r>
            <a:r>
              <a:rPr kumimoji="0" lang="en-NG" altLang="en-NG" sz="2400" b="0" i="0" u="none" strike="noStrike" cap="none" normalizeH="0" baseline="0" dirty="0">
                <a:ln>
                  <a:noFill/>
                </a:ln>
                <a:solidFill>
                  <a:schemeClr val="tx1"/>
                </a:solidFill>
                <a:effectLst/>
                <a:latin typeface="Arial" panose="020B0604020202020204" pitchFamily="34" charset="0"/>
              </a:rPr>
              <a:t> than one-time buyers.</a:t>
            </a:r>
          </a:p>
          <a:p>
            <a:pPr marL="285750" indent="-285750" algn="just">
              <a:lnSpc>
                <a:spcPct val="100000"/>
              </a:lnSpc>
              <a:buClr>
                <a:schemeClr val="accent1"/>
              </a:buClr>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06BAE0B-6DDB-4BE3-BC80-1876E09EAE67}"/>
              </a:ext>
            </a:extLst>
          </p:cNvPr>
          <p:cNvSpPr txBox="1"/>
          <p:nvPr/>
        </p:nvSpPr>
        <p:spPr>
          <a:xfrm>
            <a:off x="1061989" y="407922"/>
            <a:ext cx="7780420" cy="584775"/>
          </a:xfrm>
          <a:prstGeom prst="rect">
            <a:avLst/>
          </a:prstGeom>
          <a:solidFill>
            <a:schemeClr val="accent1"/>
          </a:solidFill>
        </p:spPr>
        <p:txBody>
          <a:bodyPr wrap="square" rtlCol="0">
            <a:spAutoFit/>
          </a:bodyPr>
          <a:lstStyle/>
          <a:p>
            <a:r>
              <a:rPr lang="en-US" sz="3200" b="1" dirty="0">
                <a:solidFill>
                  <a:schemeClr val="bg1"/>
                </a:solidFill>
                <a:latin typeface="Arial" panose="020B0604020202020204" pitchFamily="34" charset="0"/>
                <a:cs typeface="Arial" panose="020B0604020202020204" pitchFamily="34" charset="0"/>
              </a:rPr>
              <a:t>  </a:t>
            </a:r>
            <a:r>
              <a:rPr lang="en-US" sz="2800" dirty="0"/>
              <a:t>📈 </a:t>
            </a:r>
            <a:r>
              <a:rPr lang="en-US" sz="2400" b="1" dirty="0">
                <a:latin typeface="Arial" panose="020B0604020202020204" pitchFamily="34" charset="0"/>
                <a:cs typeface="Arial" panose="020B0604020202020204" pitchFamily="34" charset="0"/>
              </a:rPr>
              <a:t>INSIGHTS FROM PIVOT ANALYSIS</a:t>
            </a:r>
            <a:endParaRPr lang="en-US" sz="2400" b="1" dirty="0">
              <a:solidFill>
                <a:schemeClr val="bg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9148B2C-9C1F-4743-827D-FD84E2D24B58}"/>
              </a:ext>
            </a:extLst>
          </p:cNvPr>
          <p:cNvSpPr txBox="1"/>
          <p:nvPr/>
        </p:nvSpPr>
        <p:spPr>
          <a:xfrm rot="10800000" flipV="1">
            <a:off x="7603958" y="6306610"/>
            <a:ext cx="3962400" cy="338554"/>
          </a:xfrm>
          <a:prstGeom prst="rect">
            <a:avLst/>
          </a:prstGeom>
          <a:noFill/>
        </p:spPr>
        <p:txBody>
          <a:bodyPr wrap="square" rtlCol="0">
            <a:spAutoFit/>
          </a:bodyPr>
          <a:lstStyle/>
          <a:p>
            <a:pPr algn="just"/>
            <a:r>
              <a:rPr lang="en-US" sz="1600" i="1" dirty="0">
                <a:latin typeface="Arial" panose="020B0604020202020204" pitchFamily="34" charset="0"/>
                <a:cs typeface="Arial" panose="020B0604020202020204" pitchFamily="34" charset="0"/>
              </a:rPr>
              <a:t>Done and Presented by Akan </a:t>
            </a:r>
            <a:r>
              <a:rPr lang="en-US" sz="1600" i="1" dirty="0" err="1">
                <a:latin typeface="Arial" panose="020B0604020202020204" pitchFamily="34" charset="0"/>
                <a:cs typeface="Arial" panose="020B0604020202020204" pitchFamily="34" charset="0"/>
              </a:rPr>
              <a:t>Ukpong</a:t>
            </a:r>
            <a:endParaRPr lang="en-US" sz="1600" i="1" dirty="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851251BB-5905-41E6-99A1-0AE91382D903}"/>
              </a:ext>
            </a:extLst>
          </p:cNvPr>
          <p:cNvGrpSpPr/>
          <p:nvPr/>
        </p:nvGrpSpPr>
        <p:grpSpPr>
          <a:xfrm>
            <a:off x="11350621" y="6237136"/>
            <a:ext cx="431477" cy="510215"/>
            <a:chOff x="10331116" y="4140934"/>
            <a:chExt cx="1459831" cy="1598105"/>
          </a:xfrm>
        </p:grpSpPr>
        <p:sp>
          <p:nvSpPr>
            <p:cNvPr id="10" name="Oval 9">
              <a:extLst>
                <a:ext uri="{FF2B5EF4-FFF2-40B4-BE49-F238E27FC236}">
                  <a16:creationId xmlns:a16="http://schemas.microsoft.com/office/drawing/2014/main" id="{5C7D2D33-690F-4D44-BE6A-372EC7A285E0}"/>
                </a:ext>
              </a:extLst>
            </p:cNvPr>
            <p:cNvSpPr/>
            <p:nvPr/>
          </p:nvSpPr>
          <p:spPr>
            <a:xfrm>
              <a:off x="10331116" y="4140934"/>
              <a:ext cx="1459831" cy="15981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2732164-7497-4C2A-A416-D705DC15AFC4}"/>
                </a:ext>
              </a:extLst>
            </p:cNvPr>
            <p:cNvSpPr/>
            <p:nvPr/>
          </p:nvSpPr>
          <p:spPr>
            <a:xfrm>
              <a:off x="10443409" y="4264302"/>
              <a:ext cx="1267327" cy="1366477"/>
            </a:xfrm>
            <a:prstGeom prst="ellipse">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63437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A32E2FB-66B4-4D4D-93EE-65795C331ACD}"/>
              </a:ext>
            </a:extLst>
          </p:cNvPr>
          <p:cNvSpPr>
            <a:spLocks noGrp="1"/>
          </p:cNvSpPr>
          <p:nvPr>
            <p:ph type="subTitle" idx="1"/>
          </p:nvPr>
        </p:nvSpPr>
        <p:spPr>
          <a:xfrm>
            <a:off x="994611" y="2204186"/>
            <a:ext cx="10764251" cy="3442634"/>
          </a:xfrm>
        </p:spPr>
        <p:txBody>
          <a:bodyPr>
            <a:noAutofit/>
          </a:bodyPr>
          <a:lstStyle/>
          <a:p>
            <a:pPr algn="l">
              <a:lnSpc>
                <a:spcPct val="100000"/>
              </a:lnSpc>
              <a:buFont typeface="Arial" panose="020B0604020202020204" pitchFamily="34" charset="0"/>
              <a:buChar char="•"/>
            </a:pPr>
            <a:r>
              <a:rPr lang="en-US" b="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Focus marketing campaigns on </a:t>
            </a:r>
            <a:r>
              <a:rPr lang="en-US" b="1" dirty="0">
                <a:latin typeface="Arial" panose="020B0604020202020204" pitchFamily="34" charset="0"/>
                <a:cs typeface="Arial" panose="020B0604020202020204" pitchFamily="34" charset="0"/>
              </a:rPr>
              <a:t>top-selling and high-profit products</a:t>
            </a:r>
            <a:r>
              <a:rPr lang="en-US" dirty="0">
                <a:latin typeface="Arial" panose="020B0604020202020204" pitchFamily="34" charset="0"/>
                <a:cs typeface="Arial" panose="020B0604020202020204" pitchFamily="34" charset="0"/>
              </a:rPr>
              <a:t>.</a:t>
            </a:r>
          </a:p>
          <a:p>
            <a:pPr algn="l">
              <a:lnSpc>
                <a:spcPct val="100000"/>
              </a:lnSpc>
              <a:buFont typeface="Arial" panose="020B0604020202020204" pitchFamily="34" charset="0"/>
              <a:buChar char="•"/>
            </a:pPr>
            <a:r>
              <a:rPr lang="en-US" dirty="0">
                <a:latin typeface="Arial" panose="020B0604020202020204" pitchFamily="34" charset="0"/>
                <a:cs typeface="Arial" panose="020B0604020202020204" pitchFamily="34" charset="0"/>
              </a:rPr>
              <a:t>Increase marketing spend during </a:t>
            </a:r>
            <a:r>
              <a:rPr lang="en-US" b="1" dirty="0">
                <a:latin typeface="Arial" panose="020B0604020202020204" pitchFamily="34" charset="0"/>
                <a:cs typeface="Arial" panose="020B0604020202020204" pitchFamily="34" charset="0"/>
              </a:rPr>
              <a:t>high-performing months and seasons</a:t>
            </a:r>
            <a:r>
              <a:rPr lang="en-US" dirty="0">
                <a:latin typeface="Arial" panose="020B0604020202020204" pitchFamily="34" charset="0"/>
                <a:cs typeface="Arial" panose="020B0604020202020204" pitchFamily="34" charset="0"/>
              </a:rPr>
              <a:t>.</a:t>
            </a:r>
          </a:p>
          <a:p>
            <a:pPr algn="l">
              <a:lnSpc>
                <a:spcPct val="100000"/>
              </a:lnSpc>
              <a:buFont typeface="Arial" panose="020B0604020202020204" pitchFamily="34" charset="0"/>
              <a:buChar char="•"/>
            </a:pPr>
            <a:r>
              <a:rPr lang="en-US" dirty="0">
                <a:latin typeface="Arial" panose="020B0604020202020204" pitchFamily="34" charset="0"/>
                <a:cs typeface="Arial" panose="020B0604020202020204" pitchFamily="34" charset="0"/>
              </a:rPr>
              <a:t>Build targeted campaigns around </a:t>
            </a:r>
            <a:r>
              <a:rPr lang="en-US" b="1" dirty="0">
                <a:latin typeface="Arial" panose="020B0604020202020204" pitchFamily="34" charset="0"/>
                <a:cs typeface="Arial" panose="020B0604020202020204" pitchFamily="34" charset="0"/>
              </a:rPr>
              <a:t>high-value customer segments</a:t>
            </a:r>
            <a:r>
              <a:rPr lang="en-US" dirty="0">
                <a:latin typeface="Arial" panose="020B0604020202020204" pitchFamily="34" charset="0"/>
                <a:cs typeface="Arial" panose="020B0604020202020204" pitchFamily="34" charset="0"/>
              </a:rPr>
              <a:t>.</a:t>
            </a:r>
          </a:p>
          <a:p>
            <a:pPr algn="l">
              <a:lnSpc>
                <a:spcPct val="100000"/>
              </a:lnSpc>
              <a:buFont typeface="Arial" panose="020B0604020202020204" pitchFamily="34" charset="0"/>
              <a:buChar char="•"/>
            </a:pPr>
            <a:r>
              <a:rPr lang="en-US" dirty="0">
                <a:latin typeface="Arial" panose="020B0604020202020204" pitchFamily="34" charset="0"/>
                <a:cs typeface="Arial" panose="020B0604020202020204" pitchFamily="34" charset="0"/>
              </a:rPr>
              <a:t>Improve or discontinue promotions for </a:t>
            </a:r>
            <a:r>
              <a:rPr lang="en-US" b="1" dirty="0">
                <a:latin typeface="Arial" panose="020B0604020202020204" pitchFamily="34" charset="0"/>
                <a:cs typeface="Arial" panose="020B0604020202020204" pitchFamily="34" charset="0"/>
              </a:rPr>
              <a:t>low-converting products and channels</a:t>
            </a:r>
            <a:r>
              <a:rPr lang="en-US" dirty="0">
                <a:latin typeface="Arial" panose="020B0604020202020204" pitchFamily="34" charset="0"/>
                <a:cs typeface="Arial" panose="020B0604020202020204" pitchFamily="34" charset="0"/>
              </a:rPr>
              <a:t>.</a:t>
            </a:r>
          </a:p>
          <a:p>
            <a:pPr algn="l">
              <a:lnSpc>
                <a:spcPct val="100000"/>
              </a:lnSpc>
              <a:buFont typeface="Arial" panose="020B0604020202020204" pitchFamily="34" charset="0"/>
              <a:buChar char="•"/>
            </a:pPr>
            <a:r>
              <a:rPr lang="en-US" dirty="0">
                <a:latin typeface="Arial" panose="020B0604020202020204" pitchFamily="34" charset="0"/>
                <a:cs typeface="Arial" panose="020B0604020202020204" pitchFamily="34" charset="0"/>
              </a:rPr>
              <a:t>Use personalized email and ad campaigns based on </a:t>
            </a:r>
            <a:r>
              <a:rPr lang="en-US" b="1" dirty="0">
                <a:latin typeface="Arial" panose="020B0604020202020204" pitchFamily="34" charset="0"/>
                <a:cs typeface="Arial" panose="020B0604020202020204" pitchFamily="34" charset="0"/>
              </a:rPr>
              <a:t>customer buying behavior</a:t>
            </a:r>
            <a:r>
              <a:rPr lang="en-US" dirty="0">
                <a:latin typeface="Arial" panose="020B0604020202020204" pitchFamily="34" charset="0"/>
                <a:cs typeface="Arial" panose="020B0604020202020204" pitchFamily="34" charset="0"/>
              </a:rPr>
              <a:t>.</a:t>
            </a:r>
          </a:p>
          <a:p>
            <a:pPr marL="285750" indent="-285750" algn="just">
              <a:lnSpc>
                <a:spcPct val="100000"/>
              </a:lnSpc>
              <a:buClr>
                <a:schemeClr val="accent1"/>
              </a:buClr>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06BAE0B-6DDB-4BE3-BC80-1876E09EAE67}"/>
              </a:ext>
            </a:extLst>
          </p:cNvPr>
          <p:cNvSpPr txBox="1"/>
          <p:nvPr/>
        </p:nvSpPr>
        <p:spPr>
          <a:xfrm>
            <a:off x="1061988" y="407922"/>
            <a:ext cx="9362171" cy="1323439"/>
          </a:xfrm>
          <a:prstGeom prst="rect">
            <a:avLst/>
          </a:prstGeom>
          <a:solidFill>
            <a:schemeClr val="accent1"/>
          </a:solidFill>
        </p:spPr>
        <p:txBody>
          <a:bodyPr wrap="square" rtlCol="0">
            <a:spAutoFit/>
          </a:bodyPr>
          <a:lstStyle/>
          <a:p>
            <a:r>
              <a:rPr lang="en-US" sz="3200" b="1" dirty="0">
                <a:solidFill>
                  <a:schemeClr val="bg1"/>
                </a:solidFill>
                <a:latin typeface="Arial" panose="020B0604020202020204" pitchFamily="34" charset="0"/>
                <a:cs typeface="Arial" panose="020B0604020202020204" pitchFamily="34" charset="0"/>
              </a:rPr>
              <a:t>  </a:t>
            </a:r>
            <a:r>
              <a:rPr lang="en-NG" sz="8000" dirty="0"/>
              <a:t>🎯 </a:t>
            </a:r>
            <a:r>
              <a:rPr lang="en-US" sz="2400" b="1" dirty="0">
                <a:latin typeface="Arial" panose="020B0604020202020204" pitchFamily="34" charset="0"/>
                <a:cs typeface="Arial" panose="020B0604020202020204" pitchFamily="34" charset="0"/>
              </a:rPr>
              <a:t>RECOMMENDATIONS</a:t>
            </a:r>
            <a:endParaRPr lang="en-US" sz="2400" b="1" dirty="0">
              <a:solidFill>
                <a:schemeClr val="bg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9148B2C-9C1F-4743-827D-FD84E2D24B58}"/>
              </a:ext>
            </a:extLst>
          </p:cNvPr>
          <p:cNvSpPr txBox="1"/>
          <p:nvPr/>
        </p:nvSpPr>
        <p:spPr>
          <a:xfrm rot="10800000" flipV="1">
            <a:off x="7603958" y="6306610"/>
            <a:ext cx="3962400" cy="338554"/>
          </a:xfrm>
          <a:prstGeom prst="rect">
            <a:avLst/>
          </a:prstGeom>
          <a:noFill/>
        </p:spPr>
        <p:txBody>
          <a:bodyPr wrap="square" rtlCol="0">
            <a:spAutoFit/>
          </a:bodyPr>
          <a:lstStyle/>
          <a:p>
            <a:pPr algn="just"/>
            <a:r>
              <a:rPr lang="en-US" sz="1600" i="1" dirty="0">
                <a:latin typeface="Arial" panose="020B0604020202020204" pitchFamily="34" charset="0"/>
                <a:cs typeface="Arial" panose="020B0604020202020204" pitchFamily="34" charset="0"/>
              </a:rPr>
              <a:t>Done and Presented by Akan </a:t>
            </a:r>
            <a:r>
              <a:rPr lang="en-US" sz="1600" i="1" dirty="0" err="1">
                <a:latin typeface="Arial" panose="020B0604020202020204" pitchFamily="34" charset="0"/>
                <a:cs typeface="Arial" panose="020B0604020202020204" pitchFamily="34" charset="0"/>
              </a:rPr>
              <a:t>Ukpong</a:t>
            </a:r>
            <a:endParaRPr lang="en-US" sz="1600" i="1" dirty="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851251BB-5905-41E6-99A1-0AE91382D903}"/>
              </a:ext>
            </a:extLst>
          </p:cNvPr>
          <p:cNvGrpSpPr/>
          <p:nvPr/>
        </p:nvGrpSpPr>
        <p:grpSpPr>
          <a:xfrm>
            <a:off x="11350621" y="6237136"/>
            <a:ext cx="431477" cy="510215"/>
            <a:chOff x="10331116" y="4140934"/>
            <a:chExt cx="1459831" cy="1598105"/>
          </a:xfrm>
        </p:grpSpPr>
        <p:sp>
          <p:nvSpPr>
            <p:cNvPr id="10" name="Oval 9">
              <a:extLst>
                <a:ext uri="{FF2B5EF4-FFF2-40B4-BE49-F238E27FC236}">
                  <a16:creationId xmlns:a16="http://schemas.microsoft.com/office/drawing/2014/main" id="{5C7D2D33-690F-4D44-BE6A-372EC7A285E0}"/>
                </a:ext>
              </a:extLst>
            </p:cNvPr>
            <p:cNvSpPr/>
            <p:nvPr/>
          </p:nvSpPr>
          <p:spPr>
            <a:xfrm>
              <a:off x="10331116" y="4140934"/>
              <a:ext cx="1459831" cy="15981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2732164-7497-4C2A-A416-D705DC15AFC4}"/>
                </a:ext>
              </a:extLst>
            </p:cNvPr>
            <p:cNvSpPr/>
            <p:nvPr/>
          </p:nvSpPr>
          <p:spPr>
            <a:xfrm>
              <a:off x="10443409" y="4264302"/>
              <a:ext cx="1267327" cy="1366477"/>
            </a:xfrm>
            <a:prstGeom prst="ellipse">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54690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A32E2FB-66B4-4D4D-93EE-65795C331ACD}"/>
              </a:ext>
            </a:extLst>
          </p:cNvPr>
          <p:cNvSpPr>
            <a:spLocks noGrp="1"/>
          </p:cNvSpPr>
          <p:nvPr>
            <p:ph type="subTitle" idx="1"/>
          </p:nvPr>
        </p:nvSpPr>
        <p:spPr>
          <a:xfrm>
            <a:off x="994611" y="1290626"/>
            <a:ext cx="10764251" cy="4356194"/>
          </a:xfrm>
        </p:spPr>
        <p:txBody>
          <a:bodyPr>
            <a:noAutofit/>
          </a:bodyPr>
          <a:lstStyle/>
          <a:p>
            <a:pPr algn="l">
              <a:lnSpc>
                <a:spcPct val="150000"/>
              </a:lnSpc>
            </a:pPr>
            <a:r>
              <a:rPr lang="en-US" b="1" dirty="0"/>
              <a:t>✅ Key Findings</a:t>
            </a:r>
          </a:p>
          <a:p>
            <a:pPr algn="l">
              <a:lnSpc>
                <a:spcPct val="150000"/>
              </a:lnSpc>
              <a:buFont typeface="Arial" panose="020B0604020202020204" pitchFamily="34" charset="0"/>
              <a:buChar char="•"/>
            </a:pPr>
            <a:r>
              <a:rPr lang="en-US" dirty="0"/>
              <a:t>Several products are </a:t>
            </a:r>
            <a:r>
              <a:rPr lang="en-US" b="1" dirty="0"/>
              <a:t>fast-moving</a:t>
            </a:r>
            <a:r>
              <a:rPr lang="en-US" dirty="0"/>
              <a:t>, while others remain in stock for long periods.</a:t>
            </a:r>
          </a:p>
          <a:p>
            <a:pPr algn="l">
              <a:lnSpc>
                <a:spcPct val="150000"/>
              </a:lnSpc>
              <a:buFont typeface="Arial" panose="020B0604020202020204" pitchFamily="34" charset="0"/>
              <a:buChar char="•"/>
            </a:pPr>
            <a:r>
              <a:rPr lang="en-US" dirty="0"/>
              <a:t>Demand analysis shows </a:t>
            </a:r>
            <a:r>
              <a:rPr lang="en-US" b="1" dirty="0"/>
              <a:t>clear seasonal patterns</a:t>
            </a:r>
            <a:r>
              <a:rPr lang="en-US" dirty="0"/>
              <a:t> for certain products.</a:t>
            </a:r>
          </a:p>
          <a:p>
            <a:pPr algn="l">
              <a:lnSpc>
                <a:spcPct val="150000"/>
              </a:lnSpc>
              <a:buFont typeface="Arial" panose="020B0604020202020204" pitchFamily="34" charset="0"/>
              <a:buChar char="•"/>
            </a:pPr>
            <a:r>
              <a:rPr lang="en-US" dirty="0"/>
              <a:t>Some items have </a:t>
            </a:r>
            <a:r>
              <a:rPr lang="en-US" b="1" dirty="0"/>
              <a:t>high sales but inconsistent availability</a:t>
            </a:r>
            <a:r>
              <a:rPr lang="en-US" dirty="0"/>
              <a:t>, increasing the risk of stock-outs.</a:t>
            </a:r>
          </a:p>
          <a:p>
            <a:pPr algn="l">
              <a:lnSpc>
                <a:spcPct val="150000"/>
              </a:lnSpc>
              <a:buFont typeface="Arial" panose="020B0604020202020204" pitchFamily="34" charset="0"/>
              <a:buChar char="•"/>
            </a:pPr>
            <a:r>
              <a:rPr lang="en-US" dirty="0"/>
              <a:t>A number of products show </a:t>
            </a:r>
            <a:r>
              <a:rPr lang="en-US" b="1" dirty="0"/>
              <a:t>low sales volume</a:t>
            </a:r>
            <a:r>
              <a:rPr lang="en-US" dirty="0"/>
              <a:t>, tying up capital as dead stock.</a:t>
            </a:r>
          </a:p>
          <a:p>
            <a:pPr marL="285750" indent="-285750" algn="just">
              <a:lnSpc>
                <a:spcPct val="100000"/>
              </a:lnSpc>
              <a:buClr>
                <a:schemeClr val="accent1"/>
              </a:buClr>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06BAE0B-6DDB-4BE3-BC80-1876E09EAE67}"/>
              </a:ext>
            </a:extLst>
          </p:cNvPr>
          <p:cNvSpPr txBox="1"/>
          <p:nvPr/>
        </p:nvSpPr>
        <p:spPr>
          <a:xfrm>
            <a:off x="994612" y="417095"/>
            <a:ext cx="7780420" cy="584775"/>
          </a:xfrm>
          <a:prstGeom prst="rect">
            <a:avLst/>
          </a:prstGeom>
          <a:solidFill>
            <a:schemeClr val="accent1"/>
          </a:solidFill>
        </p:spPr>
        <p:txBody>
          <a:bodyPr wrap="square" rtlCol="0">
            <a:spAutoFit/>
          </a:bodyPr>
          <a:lstStyle/>
          <a:p>
            <a:r>
              <a:rPr lang="en-US" sz="3200" b="1" dirty="0">
                <a:solidFill>
                  <a:schemeClr val="bg1"/>
                </a:solidFill>
                <a:latin typeface="Arial" panose="020B0604020202020204" pitchFamily="34" charset="0"/>
                <a:cs typeface="Arial" panose="020B0604020202020204" pitchFamily="34" charset="0"/>
              </a:rPr>
              <a:t>  </a:t>
            </a:r>
            <a:r>
              <a:rPr lang="en-US" sz="2800" b="1" dirty="0"/>
              <a:t>OPTIMIZING INVENTORY AND STOCK PLANNING</a:t>
            </a:r>
            <a:endParaRPr lang="en-US" sz="2800" b="1" dirty="0">
              <a:solidFill>
                <a:schemeClr val="bg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9148B2C-9C1F-4743-827D-FD84E2D24B58}"/>
              </a:ext>
            </a:extLst>
          </p:cNvPr>
          <p:cNvSpPr txBox="1"/>
          <p:nvPr/>
        </p:nvSpPr>
        <p:spPr>
          <a:xfrm rot="10800000" flipV="1">
            <a:off x="7603958" y="6306610"/>
            <a:ext cx="3962400" cy="338554"/>
          </a:xfrm>
          <a:prstGeom prst="rect">
            <a:avLst/>
          </a:prstGeom>
          <a:noFill/>
        </p:spPr>
        <p:txBody>
          <a:bodyPr wrap="square" rtlCol="0">
            <a:spAutoFit/>
          </a:bodyPr>
          <a:lstStyle/>
          <a:p>
            <a:pPr algn="just"/>
            <a:r>
              <a:rPr lang="en-US" sz="1600" i="1" dirty="0">
                <a:latin typeface="Arial" panose="020B0604020202020204" pitchFamily="34" charset="0"/>
                <a:cs typeface="Arial" panose="020B0604020202020204" pitchFamily="34" charset="0"/>
              </a:rPr>
              <a:t>Done and Presented by Akan </a:t>
            </a:r>
            <a:r>
              <a:rPr lang="en-US" sz="1600" i="1" dirty="0" err="1">
                <a:latin typeface="Arial" panose="020B0604020202020204" pitchFamily="34" charset="0"/>
                <a:cs typeface="Arial" panose="020B0604020202020204" pitchFamily="34" charset="0"/>
              </a:rPr>
              <a:t>Ukpong</a:t>
            </a:r>
            <a:endParaRPr lang="en-US" sz="1600" i="1" dirty="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851251BB-5905-41E6-99A1-0AE91382D903}"/>
              </a:ext>
            </a:extLst>
          </p:cNvPr>
          <p:cNvGrpSpPr/>
          <p:nvPr/>
        </p:nvGrpSpPr>
        <p:grpSpPr>
          <a:xfrm>
            <a:off x="11350621" y="6237136"/>
            <a:ext cx="431477" cy="510215"/>
            <a:chOff x="10331116" y="4140934"/>
            <a:chExt cx="1459831" cy="1598105"/>
          </a:xfrm>
        </p:grpSpPr>
        <p:sp>
          <p:nvSpPr>
            <p:cNvPr id="10" name="Oval 9">
              <a:extLst>
                <a:ext uri="{FF2B5EF4-FFF2-40B4-BE49-F238E27FC236}">
                  <a16:creationId xmlns:a16="http://schemas.microsoft.com/office/drawing/2014/main" id="{5C7D2D33-690F-4D44-BE6A-372EC7A285E0}"/>
                </a:ext>
              </a:extLst>
            </p:cNvPr>
            <p:cNvSpPr/>
            <p:nvPr/>
          </p:nvSpPr>
          <p:spPr>
            <a:xfrm>
              <a:off x="10331116" y="4140934"/>
              <a:ext cx="1459831" cy="15981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2732164-7497-4C2A-A416-D705DC15AFC4}"/>
                </a:ext>
              </a:extLst>
            </p:cNvPr>
            <p:cNvSpPr/>
            <p:nvPr/>
          </p:nvSpPr>
          <p:spPr>
            <a:xfrm>
              <a:off x="10443409" y="4264302"/>
              <a:ext cx="1267327" cy="1366477"/>
            </a:xfrm>
            <a:prstGeom prst="ellipse">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4280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A32E2FB-66B4-4D4D-93EE-65795C331ACD}"/>
              </a:ext>
            </a:extLst>
          </p:cNvPr>
          <p:cNvSpPr>
            <a:spLocks noGrp="1"/>
          </p:cNvSpPr>
          <p:nvPr>
            <p:ph type="subTitle" idx="1"/>
          </p:nvPr>
        </p:nvSpPr>
        <p:spPr>
          <a:xfrm>
            <a:off x="994611" y="1290626"/>
            <a:ext cx="10764251" cy="4356194"/>
          </a:xfrm>
        </p:spPr>
        <p:txBody>
          <a:bodyPr>
            <a:noAutofit/>
          </a:bodyPr>
          <a:lstStyle/>
          <a:p>
            <a:pPr algn="l">
              <a:lnSpc>
                <a:spcPct val="250000"/>
              </a:lnSpc>
              <a:buFont typeface="Arial" panose="020B0604020202020204" pitchFamily="34" charset="0"/>
              <a:buChar char="•"/>
            </a:pPr>
            <a:r>
              <a:rPr lang="en-US" dirty="0"/>
              <a:t>Quantity-based pivots identified </a:t>
            </a:r>
            <a:r>
              <a:rPr lang="en-US" b="1" dirty="0"/>
              <a:t>fast-moving vs slow-moving products</a:t>
            </a:r>
            <a:r>
              <a:rPr lang="en-US" dirty="0"/>
              <a:t>.</a:t>
            </a:r>
          </a:p>
          <a:p>
            <a:pPr algn="l">
              <a:lnSpc>
                <a:spcPct val="250000"/>
              </a:lnSpc>
              <a:buFont typeface="Arial" panose="020B0604020202020204" pitchFamily="34" charset="0"/>
              <a:buChar char="•"/>
            </a:pPr>
            <a:r>
              <a:rPr lang="en-US" dirty="0"/>
              <a:t>Time-series pivots showed </a:t>
            </a:r>
            <a:r>
              <a:rPr lang="en-US" b="1" dirty="0"/>
              <a:t>monthly demand fluctuations</a:t>
            </a:r>
            <a:r>
              <a:rPr lang="en-US" dirty="0"/>
              <a:t>.</a:t>
            </a:r>
          </a:p>
          <a:p>
            <a:pPr algn="l">
              <a:lnSpc>
                <a:spcPct val="250000"/>
              </a:lnSpc>
              <a:buFont typeface="Arial" panose="020B0604020202020204" pitchFamily="34" charset="0"/>
              <a:buChar char="•"/>
            </a:pPr>
            <a:r>
              <a:rPr lang="en-US" dirty="0"/>
              <a:t>Stock vs sales comparisons revealed </a:t>
            </a:r>
            <a:r>
              <a:rPr lang="en-US" b="1" dirty="0"/>
              <a:t>over-stocked and under-stocked items</a:t>
            </a:r>
            <a:r>
              <a:rPr lang="en-US" dirty="0"/>
              <a:t>.</a:t>
            </a:r>
          </a:p>
          <a:p>
            <a:pPr marL="285750" indent="-285750" algn="just">
              <a:lnSpc>
                <a:spcPct val="100000"/>
              </a:lnSpc>
              <a:buClr>
                <a:schemeClr val="accent1"/>
              </a:buClr>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06BAE0B-6DDB-4BE3-BC80-1876E09EAE67}"/>
              </a:ext>
            </a:extLst>
          </p:cNvPr>
          <p:cNvSpPr txBox="1"/>
          <p:nvPr/>
        </p:nvSpPr>
        <p:spPr>
          <a:xfrm>
            <a:off x="994612" y="417095"/>
            <a:ext cx="7780420" cy="584775"/>
          </a:xfrm>
          <a:prstGeom prst="rect">
            <a:avLst/>
          </a:prstGeom>
          <a:solidFill>
            <a:schemeClr val="accent1"/>
          </a:solidFill>
        </p:spPr>
        <p:txBody>
          <a:bodyPr wrap="square" rtlCol="0">
            <a:spAutoFit/>
          </a:bodyPr>
          <a:lstStyle/>
          <a:p>
            <a:r>
              <a:rPr lang="en-US" sz="3200" b="1" dirty="0">
                <a:solidFill>
                  <a:schemeClr val="bg1"/>
                </a:solidFill>
                <a:latin typeface="Arial" panose="020B0604020202020204" pitchFamily="34" charset="0"/>
                <a:cs typeface="Arial" panose="020B0604020202020204" pitchFamily="34" charset="0"/>
              </a:rPr>
              <a:t>  </a:t>
            </a:r>
            <a:r>
              <a:rPr lang="en-US" sz="2800" dirty="0"/>
              <a:t>📦 </a:t>
            </a:r>
            <a:r>
              <a:rPr lang="en-US" sz="2800" b="1" dirty="0"/>
              <a:t>INSIGHTS FROM PIVOT ANALYSIS</a:t>
            </a:r>
            <a:endParaRPr lang="en-US" sz="2800" b="1" dirty="0">
              <a:solidFill>
                <a:schemeClr val="bg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9148B2C-9C1F-4743-827D-FD84E2D24B58}"/>
              </a:ext>
            </a:extLst>
          </p:cNvPr>
          <p:cNvSpPr txBox="1"/>
          <p:nvPr/>
        </p:nvSpPr>
        <p:spPr>
          <a:xfrm rot="10800000" flipV="1">
            <a:off x="7603958" y="6306610"/>
            <a:ext cx="3962400" cy="338554"/>
          </a:xfrm>
          <a:prstGeom prst="rect">
            <a:avLst/>
          </a:prstGeom>
          <a:noFill/>
        </p:spPr>
        <p:txBody>
          <a:bodyPr wrap="square" rtlCol="0">
            <a:spAutoFit/>
          </a:bodyPr>
          <a:lstStyle/>
          <a:p>
            <a:pPr algn="just"/>
            <a:r>
              <a:rPr lang="en-US" sz="1600" i="1" dirty="0">
                <a:latin typeface="Arial" panose="020B0604020202020204" pitchFamily="34" charset="0"/>
                <a:cs typeface="Arial" panose="020B0604020202020204" pitchFamily="34" charset="0"/>
              </a:rPr>
              <a:t>Done and Presented by Akan </a:t>
            </a:r>
            <a:r>
              <a:rPr lang="en-US" sz="1600" i="1" dirty="0" err="1">
                <a:latin typeface="Arial" panose="020B0604020202020204" pitchFamily="34" charset="0"/>
                <a:cs typeface="Arial" panose="020B0604020202020204" pitchFamily="34" charset="0"/>
              </a:rPr>
              <a:t>Ukpong</a:t>
            </a:r>
            <a:endParaRPr lang="en-US" sz="1600" i="1" dirty="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851251BB-5905-41E6-99A1-0AE91382D903}"/>
              </a:ext>
            </a:extLst>
          </p:cNvPr>
          <p:cNvGrpSpPr/>
          <p:nvPr/>
        </p:nvGrpSpPr>
        <p:grpSpPr>
          <a:xfrm>
            <a:off x="11350621" y="6237136"/>
            <a:ext cx="431477" cy="510215"/>
            <a:chOff x="10331116" y="4140934"/>
            <a:chExt cx="1459831" cy="1598105"/>
          </a:xfrm>
        </p:grpSpPr>
        <p:sp>
          <p:nvSpPr>
            <p:cNvPr id="10" name="Oval 9">
              <a:extLst>
                <a:ext uri="{FF2B5EF4-FFF2-40B4-BE49-F238E27FC236}">
                  <a16:creationId xmlns:a16="http://schemas.microsoft.com/office/drawing/2014/main" id="{5C7D2D33-690F-4D44-BE6A-372EC7A285E0}"/>
                </a:ext>
              </a:extLst>
            </p:cNvPr>
            <p:cNvSpPr/>
            <p:nvPr/>
          </p:nvSpPr>
          <p:spPr>
            <a:xfrm>
              <a:off x="10331116" y="4140934"/>
              <a:ext cx="1459831" cy="15981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2732164-7497-4C2A-A416-D705DC15AFC4}"/>
                </a:ext>
              </a:extLst>
            </p:cNvPr>
            <p:cNvSpPr/>
            <p:nvPr/>
          </p:nvSpPr>
          <p:spPr>
            <a:xfrm>
              <a:off x="10443409" y="4264302"/>
              <a:ext cx="1267327" cy="1366477"/>
            </a:xfrm>
            <a:prstGeom prst="ellipse">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Rectangle 1">
            <a:extLst>
              <a:ext uri="{FF2B5EF4-FFF2-40B4-BE49-F238E27FC236}">
                <a16:creationId xmlns:a16="http://schemas.microsoft.com/office/drawing/2014/main" id="{990CBC47-B0FA-418C-9410-9BA4FB961432}"/>
              </a:ext>
            </a:extLst>
          </p:cNvPr>
          <p:cNvSpPr>
            <a:spLocks noChangeArrowheads="1"/>
          </p:cNvSpPr>
          <p:nvPr/>
        </p:nvSpPr>
        <p:spPr bwMode="auto">
          <a:xfrm>
            <a:off x="48126" y="-174148"/>
            <a:ext cx="2006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NG" altLang="en-NG"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828832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A32E2FB-66B4-4D4D-93EE-65795C331ACD}"/>
              </a:ext>
            </a:extLst>
          </p:cNvPr>
          <p:cNvSpPr>
            <a:spLocks noGrp="1"/>
          </p:cNvSpPr>
          <p:nvPr>
            <p:ph type="subTitle" idx="1"/>
          </p:nvPr>
        </p:nvSpPr>
        <p:spPr>
          <a:xfrm>
            <a:off x="994611" y="1290626"/>
            <a:ext cx="10764251" cy="4356194"/>
          </a:xfrm>
        </p:spPr>
        <p:txBody>
          <a:bodyPr>
            <a:noAutofit/>
          </a:bodyPr>
          <a:lstStyle/>
          <a:p>
            <a:pPr algn="l">
              <a:lnSpc>
                <a:spcPct val="200000"/>
              </a:lnSpc>
              <a:buFont typeface="Arial" panose="020B0604020202020204" pitchFamily="34" charset="0"/>
              <a:buChar char="•"/>
            </a:pPr>
            <a:r>
              <a:rPr lang="en-US" dirty="0"/>
              <a:t>Increase reorder frequency for </a:t>
            </a:r>
            <a:r>
              <a:rPr lang="en-US" b="1" dirty="0"/>
              <a:t>fast-moving products</a:t>
            </a:r>
            <a:r>
              <a:rPr lang="en-US" dirty="0"/>
              <a:t>.</a:t>
            </a:r>
          </a:p>
          <a:p>
            <a:pPr algn="l">
              <a:lnSpc>
                <a:spcPct val="200000"/>
              </a:lnSpc>
              <a:buFont typeface="Arial" panose="020B0604020202020204" pitchFamily="34" charset="0"/>
              <a:buChar char="•"/>
            </a:pPr>
            <a:r>
              <a:rPr lang="en-US" dirty="0"/>
              <a:t>Implement </a:t>
            </a:r>
            <a:r>
              <a:rPr lang="en-US" b="1" dirty="0"/>
              <a:t>reorder levels</a:t>
            </a:r>
            <a:r>
              <a:rPr lang="en-US" dirty="0"/>
              <a:t> based on average monthly demand.</a:t>
            </a:r>
          </a:p>
          <a:p>
            <a:pPr algn="l">
              <a:lnSpc>
                <a:spcPct val="200000"/>
              </a:lnSpc>
              <a:buFont typeface="Arial" panose="020B0604020202020204" pitchFamily="34" charset="0"/>
              <a:buChar char="•"/>
            </a:pPr>
            <a:r>
              <a:rPr lang="en-US" dirty="0"/>
              <a:t>Reduce or bundle </a:t>
            </a:r>
            <a:r>
              <a:rPr lang="en-US" b="1" dirty="0"/>
              <a:t>slow-moving inventory</a:t>
            </a:r>
            <a:r>
              <a:rPr lang="en-US" dirty="0"/>
              <a:t> through promotions.</a:t>
            </a:r>
          </a:p>
          <a:p>
            <a:pPr algn="l">
              <a:lnSpc>
                <a:spcPct val="200000"/>
              </a:lnSpc>
              <a:buFont typeface="Arial" panose="020B0604020202020204" pitchFamily="34" charset="0"/>
              <a:buChar char="•"/>
            </a:pPr>
            <a:r>
              <a:rPr lang="en-US" dirty="0"/>
              <a:t>Plan inventory purchases around </a:t>
            </a:r>
            <a:r>
              <a:rPr lang="en-US" b="1" dirty="0"/>
              <a:t>seasonal demand peaks</a:t>
            </a:r>
            <a:r>
              <a:rPr lang="en-US" dirty="0"/>
              <a:t>.</a:t>
            </a:r>
          </a:p>
          <a:p>
            <a:pPr algn="l">
              <a:lnSpc>
                <a:spcPct val="200000"/>
              </a:lnSpc>
              <a:buFont typeface="Arial" panose="020B0604020202020204" pitchFamily="34" charset="0"/>
              <a:buChar char="•"/>
            </a:pPr>
            <a:r>
              <a:rPr lang="en-US" dirty="0"/>
              <a:t>Align procurement with </a:t>
            </a:r>
            <a:r>
              <a:rPr lang="en-US" b="1" dirty="0"/>
              <a:t>sales trends rather than fixed assumptions</a:t>
            </a:r>
            <a:r>
              <a:rPr lang="en-US" dirty="0"/>
              <a:t>.</a:t>
            </a:r>
          </a:p>
          <a:p>
            <a:pPr marL="285750" indent="-285750" algn="just">
              <a:lnSpc>
                <a:spcPct val="100000"/>
              </a:lnSpc>
              <a:buClr>
                <a:schemeClr val="accent1"/>
              </a:buClr>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06BAE0B-6DDB-4BE3-BC80-1876E09EAE67}"/>
              </a:ext>
            </a:extLst>
          </p:cNvPr>
          <p:cNvSpPr txBox="1"/>
          <p:nvPr/>
        </p:nvSpPr>
        <p:spPr>
          <a:xfrm>
            <a:off x="994612" y="417095"/>
            <a:ext cx="7780420" cy="584775"/>
          </a:xfrm>
          <a:prstGeom prst="rect">
            <a:avLst/>
          </a:prstGeom>
          <a:solidFill>
            <a:schemeClr val="accent1"/>
          </a:solidFill>
        </p:spPr>
        <p:txBody>
          <a:bodyPr wrap="square" rtlCol="0">
            <a:spAutoFit/>
          </a:bodyPr>
          <a:lstStyle/>
          <a:p>
            <a:r>
              <a:rPr lang="en-US" sz="3200" b="1" dirty="0">
                <a:solidFill>
                  <a:schemeClr val="bg1"/>
                </a:solidFill>
                <a:latin typeface="Arial" panose="020B0604020202020204" pitchFamily="34" charset="0"/>
                <a:cs typeface="Arial" panose="020B0604020202020204" pitchFamily="34" charset="0"/>
              </a:rPr>
              <a:t>  </a:t>
            </a:r>
            <a:r>
              <a:rPr lang="en-NG" sz="2800" dirty="0"/>
              <a:t>🎯 </a:t>
            </a:r>
            <a:r>
              <a:rPr lang="en-US" sz="2800" b="1" dirty="0">
                <a:latin typeface="Arial" panose="020B0604020202020204" pitchFamily="34" charset="0"/>
                <a:cs typeface="Arial" panose="020B0604020202020204" pitchFamily="34" charset="0"/>
              </a:rPr>
              <a:t>RECOMMENDATIONS</a:t>
            </a:r>
            <a:endParaRPr lang="en-US" sz="2800" b="1" dirty="0">
              <a:solidFill>
                <a:schemeClr val="bg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9148B2C-9C1F-4743-827D-FD84E2D24B58}"/>
              </a:ext>
            </a:extLst>
          </p:cNvPr>
          <p:cNvSpPr txBox="1"/>
          <p:nvPr/>
        </p:nvSpPr>
        <p:spPr>
          <a:xfrm rot="10800000" flipV="1">
            <a:off x="7603958" y="6306610"/>
            <a:ext cx="3962400" cy="338554"/>
          </a:xfrm>
          <a:prstGeom prst="rect">
            <a:avLst/>
          </a:prstGeom>
          <a:noFill/>
        </p:spPr>
        <p:txBody>
          <a:bodyPr wrap="square" rtlCol="0">
            <a:spAutoFit/>
          </a:bodyPr>
          <a:lstStyle/>
          <a:p>
            <a:pPr algn="just"/>
            <a:r>
              <a:rPr lang="en-US" sz="1600" i="1" dirty="0">
                <a:latin typeface="Arial" panose="020B0604020202020204" pitchFamily="34" charset="0"/>
                <a:cs typeface="Arial" panose="020B0604020202020204" pitchFamily="34" charset="0"/>
              </a:rPr>
              <a:t>Done and Presented by Akan </a:t>
            </a:r>
            <a:r>
              <a:rPr lang="en-US" sz="1600" i="1" dirty="0" err="1">
                <a:latin typeface="Arial" panose="020B0604020202020204" pitchFamily="34" charset="0"/>
                <a:cs typeface="Arial" panose="020B0604020202020204" pitchFamily="34" charset="0"/>
              </a:rPr>
              <a:t>Ukpong</a:t>
            </a:r>
            <a:endParaRPr lang="en-US" sz="1600" i="1" dirty="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851251BB-5905-41E6-99A1-0AE91382D903}"/>
              </a:ext>
            </a:extLst>
          </p:cNvPr>
          <p:cNvGrpSpPr/>
          <p:nvPr/>
        </p:nvGrpSpPr>
        <p:grpSpPr>
          <a:xfrm>
            <a:off x="11350621" y="6237136"/>
            <a:ext cx="431477" cy="510215"/>
            <a:chOff x="10331116" y="4140934"/>
            <a:chExt cx="1459831" cy="1598105"/>
          </a:xfrm>
        </p:grpSpPr>
        <p:sp>
          <p:nvSpPr>
            <p:cNvPr id="10" name="Oval 9">
              <a:extLst>
                <a:ext uri="{FF2B5EF4-FFF2-40B4-BE49-F238E27FC236}">
                  <a16:creationId xmlns:a16="http://schemas.microsoft.com/office/drawing/2014/main" id="{5C7D2D33-690F-4D44-BE6A-372EC7A285E0}"/>
                </a:ext>
              </a:extLst>
            </p:cNvPr>
            <p:cNvSpPr/>
            <p:nvPr/>
          </p:nvSpPr>
          <p:spPr>
            <a:xfrm>
              <a:off x="10331116" y="4140934"/>
              <a:ext cx="1459831" cy="15981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2732164-7497-4C2A-A416-D705DC15AFC4}"/>
                </a:ext>
              </a:extLst>
            </p:cNvPr>
            <p:cNvSpPr/>
            <p:nvPr/>
          </p:nvSpPr>
          <p:spPr>
            <a:xfrm>
              <a:off x="10443409" y="4264302"/>
              <a:ext cx="1267327" cy="1366477"/>
            </a:xfrm>
            <a:prstGeom prst="ellipse">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7060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A32E2FB-66B4-4D4D-93EE-65795C331ACD}"/>
              </a:ext>
            </a:extLst>
          </p:cNvPr>
          <p:cNvSpPr>
            <a:spLocks noGrp="1"/>
          </p:cNvSpPr>
          <p:nvPr>
            <p:ph type="subTitle" idx="1"/>
          </p:nvPr>
        </p:nvSpPr>
        <p:spPr>
          <a:xfrm>
            <a:off x="994611" y="1290626"/>
            <a:ext cx="10764251" cy="4356194"/>
          </a:xfrm>
        </p:spPr>
        <p:txBody>
          <a:bodyPr>
            <a:noAutofit/>
          </a:bodyPr>
          <a:lstStyle/>
          <a:p>
            <a:pPr algn="l">
              <a:lnSpc>
                <a:spcPct val="200000"/>
              </a:lnSpc>
            </a:pPr>
            <a:r>
              <a:rPr lang="en-US" b="1" dirty="0"/>
              <a:t>✅ Key Findings</a:t>
            </a:r>
          </a:p>
          <a:p>
            <a:pPr algn="l">
              <a:lnSpc>
                <a:spcPct val="200000"/>
              </a:lnSpc>
              <a:buFont typeface="Arial" panose="020B0604020202020204" pitchFamily="34" charset="0"/>
              <a:buChar char="•"/>
            </a:pPr>
            <a:r>
              <a:rPr lang="en-US" dirty="0"/>
              <a:t>A small percentage of customers account for a </a:t>
            </a:r>
            <a:r>
              <a:rPr lang="en-US" b="1" dirty="0"/>
              <a:t>large portion of total revenue</a:t>
            </a:r>
            <a:r>
              <a:rPr lang="en-US" dirty="0"/>
              <a:t>.</a:t>
            </a:r>
          </a:p>
          <a:p>
            <a:pPr algn="l">
              <a:lnSpc>
                <a:spcPct val="200000"/>
              </a:lnSpc>
              <a:buFont typeface="Arial" panose="020B0604020202020204" pitchFamily="34" charset="0"/>
              <a:buChar char="•"/>
            </a:pPr>
            <a:r>
              <a:rPr lang="en-US" dirty="0"/>
              <a:t>Some regions and channels show </a:t>
            </a:r>
            <a:r>
              <a:rPr lang="en-US" b="1" dirty="0"/>
              <a:t>higher order volumes but longer delivery times</a:t>
            </a:r>
            <a:r>
              <a:rPr lang="en-US" dirty="0"/>
              <a:t>.</a:t>
            </a:r>
          </a:p>
          <a:p>
            <a:pPr algn="l">
              <a:lnSpc>
                <a:spcPct val="200000"/>
              </a:lnSpc>
              <a:buFont typeface="Arial" panose="020B0604020202020204" pitchFamily="34" charset="0"/>
              <a:buChar char="•"/>
            </a:pPr>
            <a:r>
              <a:rPr lang="en-US" dirty="0"/>
              <a:t>Certain products are linked to </a:t>
            </a:r>
            <a:r>
              <a:rPr lang="en-US" b="1" dirty="0"/>
              <a:t>higher return and complaint rates</a:t>
            </a:r>
            <a:r>
              <a:rPr lang="en-US" dirty="0"/>
              <a:t>.</a:t>
            </a:r>
          </a:p>
          <a:p>
            <a:pPr algn="l">
              <a:lnSpc>
                <a:spcPct val="200000"/>
              </a:lnSpc>
              <a:buFont typeface="Arial" panose="020B0604020202020204" pitchFamily="34" charset="0"/>
              <a:buChar char="•"/>
            </a:pPr>
            <a:r>
              <a:rPr lang="en-US" dirty="0"/>
              <a:t>Repeat customers demonstrate </a:t>
            </a:r>
            <a:r>
              <a:rPr lang="en-US" b="1" dirty="0"/>
              <a:t>higher purchase frequency and value</a:t>
            </a:r>
            <a:r>
              <a:rPr lang="en-US" dirty="0"/>
              <a:t>.</a:t>
            </a:r>
          </a:p>
          <a:p>
            <a:pPr marL="285750" indent="-285750" algn="just">
              <a:lnSpc>
                <a:spcPct val="100000"/>
              </a:lnSpc>
              <a:buClr>
                <a:schemeClr val="accent1"/>
              </a:buClr>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06BAE0B-6DDB-4BE3-BC80-1876E09EAE67}"/>
              </a:ext>
            </a:extLst>
          </p:cNvPr>
          <p:cNvSpPr txBox="1"/>
          <p:nvPr/>
        </p:nvSpPr>
        <p:spPr>
          <a:xfrm>
            <a:off x="994612" y="417095"/>
            <a:ext cx="7780420" cy="584775"/>
          </a:xfrm>
          <a:prstGeom prst="rect">
            <a:avLst/>
          </a:prstGeom>
          <a:solidFill>
            <a:schemeClr val="accent1"/>
          </a:solidFill>
        </p:spPr>
        <p:txBody>
          <a:bodyPr wrap="square" rtlCol="0">
            <a:spAutoFit/>
          </a:bodyPr>
          <a:lstStyle/>
          <a:p>
            <a:r>
              <a:rPr lang="en-US" sz="3200" b="1" dirty="0">
                <a:solidFill>
                  <a:schemeClr val="bg1"/>
                </a:solidFill>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ENHANCING CUSTOMER EXPERIENCE AND SATISFACTION</a:t>
            </a:r>
            <a:endParaRPr lang="en-US" sz="2000" b="1" dirty="0">
              <a:solidFill>
                <a:schemeClr val="bg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9148B2C-9C1F-4743-827D-FD84E2D24B58}"/>
              </a:ext>
            </a:extLst>
          </p:cNvPr>
          <p:cNvSpPr txBox="1"/>
          <p:nvPr/>
        </p:nvSpPr>
        <p:spPr>
          <a:xfrm rot="10800000" flipV="1">
            <a:off x="7603958" y="6306610"/>
            <a:ext cx="3962400" cy="338554"/>
          </a:xfrm>
          <a:prstGeom prst="rect">
            <a:avLst/>
          </a:prstGeom>
          <a:noFill/>
        </p:spPr>
        <p:txBody>
          <a:bodyPr wrap="square" rtlCol="0">
            <a:spAutoFit/>
          </a:bodyPr>
          <a:lstStyle/>
          <a:p>
            <a:pPr algn="just"/>
            <a:r>
              <a:rPr lang="en-US" sz="1600" i="1" dirty="0">
                <a:latin typeface="Arial" panose="020B0604020202020204" pitchFamily="34" charset="0"/>
                <a:cs typeface="Arial" panose="020B0604020202020204" pitchFamily="34" charset="0"/>
              </a:rPr>
              <a:t>Done and Presented by Akan </a:t>
            </a:r>
            <a:r>
              <a:rPr lang="en-US" sz="1600" i="1" dirty="0" err="1">
                <a:latin typeface="Arial" panose="020B0604020202020204" pitchFamily="34" charset="0"/>
                <a:cs typeface="Arial" panose="020B0604020202020204" pitchFamily="34" charset="0"/>
              </a:rPr>
              <a:t>Ukpong</a:t>
            </a:r>
            <a:endParaRPr lang="en-US" sz="1600" i="1" dirty="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851251BB-5905-41E6-99A1-0AE91382D903}"/>
              </a:ext>
            </a:extLst>
          </p:cNvPr>
          <p:cNvGrpSpPr/>
          <p:nvPr/>
        </p:nvGrpSpPr>
        <p:grpSpPr>
          <a:xfrm>
            <a:off x="11350621" y="6237136"/>
            <a:ext cx="431477" cy="510215"/>
            <a:chOff x="10331116" y="4140934"/>
            <a:chExt cx="1459831" cy="1598105"/>
          </a:xfrm>
        </p:grpSpPr>
        <p:sp>
          <p:nvSpPr>
            <p:cNvPr id="10" name="Oval 9">
              <a:extLst>
                <a:ext uri="{FF2B5EF4-FFF2-40B4-BE49-F238E27FC236}">
                  <a16:creationId xmlns:a16="http://schemas.microsoft.com/office/drawing/2014/main" id="{5C7D2D33-690F-4D44-BE6A-372EC7A285E0}"/>
                </a:ext>
              </a:extLst>
            </p:cNvPr>
            <p:cNvSpPr/>
            <p:nvPr/>
          </p:nvSpPr>
          <p:spPr>
            <a:xfrm>
              <a:off x="10331116" y="4140934"/>
              <a:ext cx="1459831" cy="15981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2732164-7497-4C2A-A416-D705DC15AFC4}"/>
                </a:ext>
              </a:extLst>
            </p:cNvPr>
            <p:cNvSpPr/>
            <p:nvPr/>
          </p:nvSpPr>
          <p:spPr>
            <a:xfrm>
              <a:off x="10443409" y="4264302"/>
              <a:ext cx="1267327" cy="1366477"/>
            </a:xfrm>
            <a:prstGeom prst="ellipse">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20578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06BAE0B-6DDB-4BE3-BC80-1876E09EAE67}"/>
              </a:ext>
            </a:extLst>
          </p:cNvPr>
          <p:cNvSpPr txBox="1"/>
          <p:nvPr/>
        </p:nvSpPr>
        <p:spPr>
          <a:xfrm>
            <a:off x="994612" y="417095"/>
            <a:ext cx="7780420" cy="584775"/>
          </a:xfrm>
          <a:prstGeom prst="rect">
            <a:avLst/>
          </a:prstGeom>
          <a:solidFill>
            <a:schemeClr val="accent1"/>
          </a:solidFill>
        </p:spPr>
        <p:txBody>
          <a:bodyPr wrap="square" rtlCol="0">
            <a:spAutoFit/>
          </a:bodyPr>
          <a:lstStyle/>
          <a:p>
            <a:r>
              <a:rPr lang="en-US" sz="3200" b="1" dirty="0">
                <a:solidFill>
                  <a:schemeClr val="bg1"/>
                </a:solidFill>
                <a:latin typeface="Arial" panose="020B0604020202020204" pitchFamily="34" charset="0"/>
                <a:cs typeface="Arial" panose="020B0604020202020204" pitchFamily="34" charset="0"/>
              </a:rPr>
              <a:t>  </a:t>
            </a:r>
            <a:r>
              <a:rPr lang="en-US" sz="2800" dirty="0"/>
              <a:t>👥 </a:t>
            </a:r>
            <a:r>
              <a:rPr lang="en-US" sz="2800" b="1" dirty="0">
                <a:latin typeface="Arial" panose="020B0604020202020204" pitchFamily="34" charset="0"/>
                <a:cs typeface="Arial" panose="020B0604020202020204" pitchFamily="34" charset="0"/>
              </a:rPr>
              <a:t>INSIGHTS FROM PIVOT ANALYSIS</a:t>
            </a:r>
            <a:endParaRPr lang="en-US" sz="2800" b="1" dirty="0">
              <a:solidFill>
                <a:schemeClr val="bg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9148B2C-9C1F-4743-827D-FD84E2D24B58}"/>
              </a:ext>
            </a:extLst>
          </p:cNvPr>
          <p:cNvSpPr txBox="1"/>
          <p:nvPr/>
        </p:nvSpPr>
        <p:spPr>
          <a:xfrm rot="10800000" flipV="1">
            <a:off x="7603958" y="6306610"/>
            <a:ext cx="3962400" cy="338554"/>
          </a:xfrm>
          <a:prstGeom prst="rect">
            <a:avLst/>
          </a:prstGeom>
          <a:noFill/>
        </p:spPr>
        <p:txBody>
          <a:bodyPr wrap="square" rtlCol="0">
            <a:spAutoFit/>
          </a:bodyPr>
          <a:lstStyle/>
          <a:p>
            <a:pPr algn="just"/>
            <a:r>
              <a:rPr lang="en-US" sz="1600" i="1" dirty="0">
                <a:latin typeface="Arial" panose="020B0604020202020204" pitchFamily="34" charset="0"/>
                <a:cs typeface="Arial" panose="020B0604020202020204" pitchFamily="34" charset="0"/>
              </a:rPr>
              <a:t>Done and Presented by Akan </a:t>
            </a:r>
            <a:r>
              <a:rPr lang="en-US" sz="1600" i="1" dirty="0" err="1">
                <a:latin typeface="Arial" panose="020B0604020202020204" pitchFamily="34" charset="0"/>
                <a:cs typeface="Arial" panose="020B0604020202020204" pitchFamily="34" charset="0"/>
              </a:rPr>
              <a:t>Ukpong</a:t>
            </a:r>
            <a:endParaRPr lang="en-US" sz="1600" i="1" dirty="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851251BB-5905-41E6-99A1-0AE91382D903}"/>
              </a:ext>
            </a:extLst>
          </p:cNvPr>
          <p:cNvGrpSpPr/>
          <p:nvPr/>
        </p:nvGrpSpPr>
        <p:grpSpPr>
          <a:xfrm>
            <a:off x="11350621" y="6237136"/>
            <a:ext cx="431477" cy="510215"/>
            <a:chOff x="10331116" y="4140934"/>
            <a:chExt cx="1459831" cy="1598105"/>
          </a:xfrm>
        </p:grpSpPr>
        <p:sp>
          <p:nvSpPr>
            <p:cNvPr id="10" name="Oval 9">
              <a:extLst>
                <a:ext uri="{FF2B5EF4-FFF2-40B4-BE49-F238E27FC236}">
                  <a16:creationId xmlns:a16="http://schemas.microsoft.com/office/drawing/2014/main" id="{5C7D2D33-690F-4D44-BE6A-372EC7A285E0}"/>
                </a:ext>
              </a:extLst>
            </p:cNvPr>
            <p:cNvSpPr/>
            <p:nvPr/>
          </p:nvSpPr>
          <p:spPr>
            <a:xfrm>
              <a:off x="10331116" y="4140934"/>
              <a:ext cx="1459831" cy="15981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2732164-7497-4C2A-A416-D705DC15AFC4}"/>
                </a:ext>
              </a:extLst>
            </p:cNvPr>
            <p:cNvSpPr/>
            <p:nvPr/>
          </p:nvSpPr>
          <p:spPr>
            <a:xfrm>
              <a:off x="10443409" y="4264302"/>
              <a:ext cx="1267327" cy="1366477"/>
            </a:xfrm>
            <a:prstGeom prst="ellipse">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Rectangle 1">
            <a:extLst>
              <a:ext uri="{FF2B5EF4-FFF2-40B4-BE49-F238E27FC236}">
                <a16:creationId xmlns:a16="http://schemas.microsoft.com/office/drawing/2014/main" id="{01A51352-F721-4796-A63F-747D09F146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NG" altLang="en-NG" sz="1800" b="0" i="0" u="none" strike="noStrike" cap="none" normalizeH="0" baseline="0">
                <a:ln>
                  <a:noFill/>
                </a:ln>
                <a:solidFill>
                  <a:schemeClr val="tx1"/>
                </a:solidFill>
                <a:effectLst/>
                <a:latin typeface="Arial" panose="020B0604020202020204" pitchFamily="34" charset="0"/>
              </a:rPr>
              <a:t>Customer-based pivots identified </a:t>
            </a:r>
            <a:r>
              <a:rPr kumimoji="0" lang="en-NG" altLang="en-NG" sz="1800" b="1" i="0" u="none" strike="noStrike" cap="none" normalizeH="0" baseline="0">
                <a:ln>
                  <a:noFill/>
                </a:ln>
                <a:solidFill>
                  <a:schemeClr val="tx1"/>
                </a:solidFill>
                <a:effectLst/>
                <a:latin typeface="Arial" panose="020B0604020202020204" pitchFamily="34" charset="0"/>
              </a:rPr>
              <a:t>top-value and loyal customers</a:t>
            </a:r>
            <a:r>
              <a:rPr kumimoji="0" lang="en-NG" altLang="en-NG"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G" altLang="en-NG" sz="1800" b="0" i="0" u="none" strike="noStrike" cap="none" normalizeH="0" baseline="0">
                <a:ln>
                  <a:noFill/>
                </a:ln>
                <a:solidFill>
                  <a:schemeClr val="tx1"/>
                </a:solidFill>
                <a:effectLst/>
                <a:latin typeface="Arial" panose="020B0604020202020204" pitchFamily="34" charset="0"/>
              </a:rPr>
              <a:t>Product and region pivots highlighted </a:t>
            </a:r>
            <a:r>
              <a:rPr kumimoji="0" lang="en-NG" altLang="en-NG" sz="1800" b="1" i="0" u="none" strike="noStrike" cap="none" normalizeH="0" baseline="0">
                <a:ln>
                  <a:noFill/>
                </a:ln>
                <a:solidFill>
                  <a:schemeClr val="tx1"/>
                </a:solidFill>
                <a:effectLst/>
                <a:latin typeface="Arial" panose="020B0604020202020204" pitchFamily="34" charset="0"/>
              </a:rPr>
              <a:t>service and fulfillment weaknesses</a:t>
            </a:r>
            <a:r>
              <a:rPr kumimoji="0" lang="en-NG" altLang="en-NG" sz="1800" b="0" i="0" u="none" strike="noStrike" cap="none" normalizeH="0" baseline="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G" altLang="en-NG" sz="1800" b="0" i="0" u="none" strike="noStrike" cap="none" normalizeH="0" baseline="0">
                <a:ln>
                  <a:noFill/>
                </a:ln>
                <a:solidFill>
                  <a:schemeClr val="tx1"/>
                </a:solidFill>
                <a:effectLst/>
                <a:latin typeface="Arial" panose="020B0604020202020204" pitchFamily="34" charset="0"/>
              </a:rPr>
              <a:t>Trend pivots showed </a:t>
            </a:r>
            <a:r>
              <a:rPr kumimoji="0" lang="en-NG" altLang="en-NG" sz="1800" b="1" i="0" u="none" strike="noStrike" cap="none" normalizeH="0" baseline="0">
                <a:ln>
                  <a:noFill/>
                </a:ln>
                <a:solidFill>
                  <a:schemeClr val="tx1"/>
                </a:solidFill>
                <a:effectLst/>
                <a:latin typeface="Arial" panose="020B0604020202020204" pitchFamily="34" charset="0"/>
              </a:rPr>
              <a:t>fluctuations in repeat purchase behavior</a:t>
            </a:r>
            <a:r>
              <a:rPr kumimoji="0" lang="en-NG" altLang="en-NG" sz="1800" b="0" i="0" u="none" strike="noStrike" cap="none" normalizeH="0" baseline="0">
                <a:ln>
                  <a:noFill/>
                </a:ln>
                <a:solidFill>
                  <a:schemeClr val="tx1"/>
                </a:solidFill>
                <a:effectLst/>
                <a:latin typeface="Arial" panose="020B0604020202020204" pitchFamily="34" charset="0"/>
              </a:rPr>
              <a:t>.</a:t>
            </a:r>
          </a:p>
        </p:txBody>
      </p:sp>
      <p:sp>
        <p:nvSpPr>
          <p:cNvPr id="4" name="Rectangle 2">
            <a:extLst>
              <a:ext uri="{FF2B5EF4-FFF2-40B4-BE49-F238E27FC236}">
                <a16:creationId xmlns:a16="http://schemas.microsoft.com/office/drawing/2014/main" id="{3D5A6AE5-0F6A-4D45-9276-F15FCD774E5E}"/>
              </a:ext>
            </a:extLst>
          </p:cNvPr>
          <p:cNvSpPr>
            <a:spLocks noGrp="1" noChangeArrowheads="1"/>
          </p:cNvSpPr>
          <p:nvPr>
            <p:ph type="subTitle" idx="1"/>
          </p:nvPr>
        </p:nvSpPr>
        <p:spPr bwMode="auto">
          <a:xfrm>
            <a:off x="995363" y="2253612"/>
            <a:ext cx="8036174" cy="24301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300000"/>
              </a:lnSpc>
              <a:spcBef>
                <a:spcPct val="0"/>
              </a:spcBef>
              <a:spcAft>
                <a:spcPct val="0"/>
              </a:spcAft>
              <a:buClrTx/>
              <a:buSzTx/>
              <a:buFontTx/>
              <a:buChar char="•"/>
              <a:tabLst/>
            </a:pPr>
            <a:r>
              <a:rPr kumimoji="0" lang="en-NG" altLang="en-NG" sz="1800" b="0" i="0" u="none" strike="noStrike" cap="none" normalizeH="0" baseline="0" dirty="0">
                <a:ln>
                  <a:noFill/>
                </a:ln>
                <a:solidFill>
                  <a:schemeClr val="tx1"/>
                </a:solidFill>
                <a:effectLst/>
                <a:latin typeface="Arial" panose="020B0604020202020204" pitchFamily="34" charset="0"/>
              </a:rPr>
              <a:t>Customer-based pivots identified </a:t>
            </a:r>
            <a:r>
              <a:rPr kumimoji="0" lang="en-NG" altLang="en-NG" sz="1800" b="1" i="0" u="none" strike="noStrike" cap="none" normalizeH="0" baseline="0" dirty="0">
                <a:ln>
                  <a:noFill/>
                </a:ln>
                <a:solidFill>
                  <a:schemeClr val="tx1"/>
                </a:solidFill>
                <a:effectLst/>
                <a:latin typeface="Arial" panose="020B0604020202020204" pitchFamily="34" charset="0"/>
              </a:rPr>
              <a:t>top-value and loyal customers</a:t>
            </a:r>
            <a:r>
              <a:rPr kumimoji="0" lang="en-NG" altLang="en-NG"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en-NG" altLang="en-NG" sz="1800" b="0" i="0" u="none" strike="noStrike" cap="none" normalizeH="0" baseline="0" dirty="0">
                <a:ln>
                  <a:noFill/>
                </a:ln>
                <a:solidFill>
                  <a:schemeClr val="tx1"/>
                </a:solidFill>
                <a:effectLst/>
                <a:latin typeface="Arial" panose="020B0604020202020204" pitchFamily="34" charset="0"/>
              </a:rPr>
              <a:t>Product and region pivots highlighted </a:t>
            </a:r>
            <a:r>
              <a:rPr kumimoji="0" lang="en-NG" altLang="en-NG" sz="1800" b="1" i="0" u="none" strike="noStrike" cap="none" normalizeH="0" baseline="0" dirty="0">
                <a:ln>
                  <a:noFill/>
                </a:ln>
                <a:solidFill>
                  <a:schemeClr val="tx1"/>
                </a:solidFill>
                <a:effectLst/>
                <a:latin typeface="Arial" panose="020B0604020202020204" pitchFamily="34" charset="0"/>
              </a:rPr>
              <a:t>service and fulfillment weaknesses</a:t>
            </a:r>
            <a:r>
              <a:rPr kumimoji="0" lang="en-NG" altLang="en-NG"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300000"/>
              </a:lnSpc>
              <a:spcBef>
                <a:spcPct val="0"/>
              </a:spcBef>
              <a:spcAft>
                <a:spcPct val="0"/>
              </a:spcAft>
              <a:buClrTx/>
              <a:buSzTx/>
              <a:buFontTx/>
              <a:buChar char="•"/>
              <a:tabLst/>
            </a:pPr>
            <a:r>
              <a:rPr kumimoji="0" lang="en-NG" altLang="en-NG" sz="1800" b="0" i="0" u="none" strike="noStrike" cap="none" normalizeH="0" baseline="0" dirty="0">
                <a:ln>
                  <a:noFill/>
                </a:ln>
                <a:solidFill>
                  <a:schemeClr val="tx1"/>
                </a:solidFill>
                <a:effectLst/>
                <a:latin typeface="Arial" panose="020B0604020202020204" pitchFamily="34" charset="0"/>
              </a:rPr>
              <a:t>Trend pivots showed </a:t>
            </a:r>
            <a:r>
              <a:rPr kumimoji="0" lang="en-NG" altLang="en-NG" sz="1800" b="1" i="0" u="none" strike="noStrike" cap="none" normalizeH="0" baseline="0" dirty="0">
                <a:ln>
                  <a:noFill/>
                </a:ln>
                <a:solidFill>
                  <a:schemeClr val="tx1"/>
                </a:solidFill>
                <a:effectLst/>
                <a:latin typeface="Arial" panose="020B0604020202020204" pitchFamily="34" charset="0"/>
              </a:rPr>
              <a:t>fluctuations in repeat purchase </a:t>
            </a:r>
            <a:r>
              <a:rPr kumimoji="0" lang="en-NG" altLang="en-NG" sz="1800" b="1" i="0" u="none" strike="noStrike" cap="none" normalizeH="0" baseline="0" dirty="0" err="1">
                <a:ln>
                  <a:noFill/>
                </a:ln>
                <a:solidFill>
                  <a:schemeClr val="tx1"/>
                </a:solidFill>
                <a:effectLst/>
                <a:latin typeface="Arial" panose="020B0604020202020204" pitchFamily="34" charset="0"/>
              </a:rPr>
              <a:t>behavior</a:t>
            </a:r>
            <a:r>
              <a:rPr kumimoji="0" lang="en-NG" altLang="en-NG"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759479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A32E2FB-66B4-4D4D-93EE-65795C331ACD}"/>
              </a:ext>
            </a:extLst>
          </p:cNvPr>
          <p:cNvSpPr>
            <a:spLocks noGrp="1"/>
          </p:cNvSpPr>
          <p:nvPr>
            <p:ph type="subTitle" idx="1"/>
          </p:nvPr>
        </p:nvSpPr>
        <p:spPr>
          <a:xfrm>
            <a:off x="994611" y="1502232"/>
            <a:ext cx="10764251" cy="4144588"/>
          </a:xfrm>
        </p:spPr>
        <p:txBody>
          <a:bodyPr>
            <a:noAutofit/>
          </a:bodyPr>
          <a:lstStyle/>
          <a:p>
            <a:pPr algn="l">
              <a:lnSpc>
                <a:spcPct val="200000"/>
              </a:lnSpc>
              <a:buFont typeface="Arial" panose="020B0604020202020204" pitchFamily="34" charset="0"/>
              <a:buChar char="•"/>
            </a:pPr>
            <a:r>
              <a:rPr lang="en-US" dirty="0">
                <a:latin typeface="Arial" panose="020B0604020202020204" pitchFamily="34" charset="0"/>
                <a:cs typeface="Arial" panose="020B0604020202020204" pitchFamily="34" charset="0"/>
              </a:rPr>
              <a:t>Introduce </a:t>
            </a:r>
            <a:r>
              <a:rPr lang="en-US" b="1" dirty="0">
                <a:latin typeface="Arial" panose="020B0604020202020204" pitchFamily="34" charset="0"/>
                <a:cs typeface="Arial" panose="020B0604020202020204" pitchFamily="34" charset="0"/>
              </a:rPr>
              <a:t>loyalty programs and personalized offers</a:t>
            </a:r>
            <a:r>
              <a:rPr lang="en-US" dirty="0">
                <a:latin typeface="Arial" panose="020B0604020202020204" pitchFamily="34" charset="0"/>
                <a:cs typeface="Arial" panose="020B0604020202020204" pitchFamily="34" charset="0"/>
              </a:rPr>
              <a:t> for top customers.</a:t>
            </a:r>
          </a:p>
          <a:p>
            <a:pPr algn="l">
              <a:lnSpc>
                <a:spcPct val="200000"/>
              </a:lnSpc>
              <a:buFont typeface="Arial" panose="020B0604020202020204" pitchFamily="34" charset="0"/>
              <a:buChar char="•"/>
            </a:pPr>
            <a:r>
              <a:rPr lang="en-US" dirty="0">
                <a:latin typeface="Arial" panose="020B0604020202020204" pitchFamily="34" charset="0"/>
                <a:cs typeface="Arial" panose="020B0604020202020204" pitchFamily="34" charset="0"/>
              </a:rPr>
              <a:t>Improve delivery processes in </a:t>
            </a:r>
            <a:r>
              <a:rPr lang="en-US" b="1" dirty="0">
                <a:latin typeface="Arial" panose="020B0604020202020204" pitchFamily="34" charset="0"/>
                <a:cs typeface="Arial" panose="020B0604020202020204" pitchFamily="34" charset="0"/>
              </a:rPr>
              <a:t>low-performing regions and channels</a:t>
            </a:r>
            <a:r>
              <a:rPr lang="en-US" dirty="0">
                <a:latin typeface="Arial" panose="020B0604020202020204" pitchFamily="34" charset="0"/>
                <a:cs typeface="Arial" panose="020B0604020202020204" pitchFamily="34" charset="0"/>
              </a:rPr>
              <a:t>.</a:t>
            </a:r>
          </a:p>
          <a:p>
            <a:pPr algn="l">
              <a:lnSpc>
                <a:spcPct val="200000"/>
              </a:lnSpc>
              <a:buFont typeface="Arial" panose="020B0604020202020204" pitchFamily="34" charset="0"/>
              <a:buChar char="•"/>
            </a:pPr>
            <a:r>
              <a:rPr lang="en-US" dirty="0">
                <a:latin typeface="Arial" panose="020B0604020202020204" pitchFamily="34" charset="0"/>
                <a:cs typeface="Arial" panose="020B0604020202020204" pitchFamily="34" charset="0"/>
              </a:rPr>
              <a:t>Review and improve products with </a:t>
            </a:r>
            <a:r>
              <a:rPr lang="en-US" b="1" dirty="0">
                <a:latin typeface="Arial" panose="020B0604020202020204" pitchFamily="34" charset="0"/>
                <a:cs typeface="Arial" panose="020B0604020202020204" pitchFamily="34" charset="0"/>
              </a:rPr>
              <a:t>high return or complaint rates</a:t>
            </a:r>
            <a:r>
              <a:rPr lang="en-US" dirty="0">
                <a:latin typeface="Arial" panose="020B0604020202020204" pitchFamily="34" charset="0"/>
                <a:cs typeface="Arial" panose="020B0604020202020204" pitchFamily="34" charset="0"/>
              </a:rPr>
              <a:t>.</a:t>
            </a:r>
          </a:p>
          <a:p>
            <a:pPr algn="l">
              <a:lnSpc>
                <a:spcPct val="200000"/>
              </a:lnSpc>
              <a:buFont typeface="Arial" panose="020B0604020202020204" pitchFamily="34" charset="0"/>
              <a:buChar char="•"/>
            </a:pPr>
            <a:r>
              <a:rPr lang="en-US" dirty="0">
                <a:latin typeface="Arial" panose="020B0604020202020204" pitchFamily="34" charset="0"/>
                <a:cs typeface="Arial" panose="020B0604020202020204" pitchFamily="34" charset="0"/>
              </a:rPr>
              <a:t>Use customer data to build </a:t>
            </a:r>
            <a:r>
              <a:rPr lang="en-US" b="1" dirty="0">
                <a:latin typeface="Arial" panose="020B0604020202020204" pitchFamily="34" charset="0"/>
                <a:cs typeface="Arial" panose="020B0604020202020204" pitchFamily="34" charset="0"/>
              </a:rPr>
              <a:t>personalized shopping experiences</a:t>
            </a:r>
            <a:r>
              <a:rPr lang="en-US" dirty="0">
                <a:latin typeface="Arial" panose="020B0604020202020204" pitchFamily="34" charset="0"/>
                <a:cs typeface="Arial" panose="020B0604020202020204" pitchFamily="34" charset="0"/>
              </a:rPr>
              <a:t>.</a:t>
            </a:r>
          </a:p>
          <a:p>
            <a:pPr algn="l">
              <a:lnSpc>
                <a:spcPct val="200000"/>
              </a:lnSpc>
              <a:buFont typeface="Arial" panose="020B0604020202020204" pitchFamily="34" charset="0"/>
              <a:buChar char="•"/>
            </a:pPr>
            <a:r>
              <a:rPr lang="en-US" dirty="0">
                <a:latin typeface="Arial" panose="020B0604020202020204" pitchFamily="34" charset="0"/>
                <a:cs typeface="Arial" panose="020B0604020202020204" pitchFamily="34" charset="0"/>
              </a:rPr>
              <a:t>Strengthen after-sales support and feedback systems.</a:t>
            </a:r>
          </a:p>
          <a:p>
            <a:pPr marL="285750" indent="-285750" algn="just">
              <a:lnSpc>
                <a:spcPct val="100000"/>
              </a:lnSpc>
              <a:buClr>
                <a:schemeClr val="accent1"/>
              </a:buClr>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06BAE0B-6DDB-4BE3-BC80-1876E09EAE67}"/>
              </a:ext>
            </a:extLst>
          </p:cNvPr>
          <p:cNvSpPr txBox="1"/>
          <p:nvPr/>
        </p:nvSpPr>
        <p:spPr>
          <a:xfrm>
            <a:off x="994612" y="417095"/>
            <a:ext cx="7780420" cy="1015663"/>
          </a:xfrm>
          <a:prstGeom prst="rect">
            <a:avLst/>
          </a:prstGeom>
          <a:solidFill>
            <a:schemeClr val="accent1"/>
          </a:solidFill>
        </p:spPr>
        <p:txBody>
          <a:bodyPr wrap="square" rtlCol="0">
            <a:spAutoFit/>
          </a:bodyPr>
          <a:lstStyle/>
          <a:p>
            <a:r>
              <a:rPr lang="en-US" sz="3200" b="1" dirty="0">
                <a:solidFill>
                  <a:schemeClr val="bg1"/>
                </a:solidFill>
                <a:latin typeface="Arial" panose="020B0604020202020204" pitchFamily="34" charset="0"/>
                <a:cs typeface="Arial" panose="020B0604020202020204" pitchFamily="34" charset="0"/>
              </a:rPr>
              <a:t>  </a:t>
            </a:r>
            <a:r>
              <a:rPr lang="en-NG" sz="2800" b="1" dirty="0"/>
              <a:t>🎯 </a:t>
            </a:r>
            <a:r>
              <a:rPr lang="en-US" sz="2400" b="1" dirty="0">
                <a:latin typeface="Arial" panose="020B0604020202020204" pitchFamily="34" charset="0"/>
                <a:cs typeface="Arial" panose="020B0604020202020204" pitchFamily="34" charset="0"/>
              </a:rPr>
              <a:t>RECOMMENDATIONS</a:t>
            </a:r>
          </a:p>
          <a:p>
            <a:endParaRPr lang="en-US" sz="2800" b="1" dirty="0">
              <a:solidFill>
                <a:schemeClr val="bg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9148B2C-9C1F-4743-827D-FD84E2D24B58}"/>
              </a:ext>
            </a:extLst>
          </p:cNvPr>
          <p:cNvSpPr txBox="1"/>
          <p:nvPr/>
        </p:nvSpPr>
        <p:spPr>
          <a:xfrm rot="10800000" flipV="1">
            <a:off x="7603958" y="6306610"/>
            <a:ext cx="3962400" cy="338554"/>
          </a:xfrm>
          <a:prstGeom prst="rect">
            <a:avLst/>
          </a:prstGeom>
          <a:noFill/>
        </p:spPr>
        <p:txBody>
          <a:bodyPr wrap="square" rtlCol="0">
            <a:spAutoFit/>
          </a:bodyPr>
          <a:lstStyle/>
          <a:p>
            <a:pPr algn="just"/>
            <a:r>
              <a:rPr lang="en-US" sz="1600" i="1" dirty="0">
                <a:latin typeface="Arial" panose="020B0604020202020204" pitchFamily="34" charset="0"/>
                <a:cs typeface="Arial" panose="020B0604020202020204" pitchFamily="34" charset="0"/>
              </a:rPr>
              <a:t>Done and Presented by Akan </a:t>
            </a:r>
            <a:r>
              <a:rPr lang="en-US" sz="1600" i="1" dirty="0" err="1">
                <a:latin typeface="Arial" panose="020B0604020202020204" pitchFamily="34" charset="0"/>
                <a:cs typeface="Arial" panose="020B0604020202020204" pitchFamily="34" charset="0"/>
              </a:rPr>
              <a:t>Ukpong</a:t>
            </a:r>
            <a:endParaRPr lang="en-US" sz="1600" i="1" dirty="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851251BB-5905-41E6-99A1-0AE91382D903}"/>
              </a:ext>
            </a:extLst>
          </p:cNvPr>
          <p:cNvGrpSpPr/>
          <p:nvPr/>
        </p:nvGrpSpPr>
        <p:grpSpPr>
          <a:xfrm>
            <a:off x="11350621" y="6237136"/>
            <a:ext cx="431477" cy="510215"/>
            <a:chOff x="10331116" y="4140934"/>
            <a:chExt cx="1459831" cy="1598105"/>
          </a:xfrm>
        </p:grpSpPr>
        <p:sp>
          <p:nvSpPr>
            <p:cNvPr id="10" name="Oval 9">
              <a:extLst>
                <a:ext uri="{FF2B5EF4-FFF2-40B4-BE49-F238E27FC236}">
                  <a16:creationId xmlns:a16="http://schemas.microsoft.com/office/drawing/2014/main" id="{5C7D2D33-690F-4D44-BE6A-372EC7A285E0}"/>
                </a:ext>
              </a:extLst>
            </p:cNvPr>
            <p:cNvSpPr/>
            <p:nvPr/>
          </p:nvSpPr>
          <p:spPr>
            <a:xfrm>
              <a:off x="10331116" y="4140934"/>
              <a:ext cx="1459831" cy="15981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2732164-7497-4C2A-A416-D705DC15AFC4}"/>
                </a:ext>
              </a:extLst>
            </p:cNvPr>
            <p:cNvSpPr/>
            <p:nvPr/>
          </p:nvSpPr>
          <p:spPr>
            <a:xfrm>
              <a:off x="10443409" y="4264302"/>
              <a:ext cx="1267327" cy="1366477"/>
            </a:xfrm>
            <a:prstGeom prst="ellipse">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30396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488D1-4C2C-49C5-BC69-24FFE4594E53}"/>
              </a:ext>
            </a:extLst>
          </p:cNvPr>
          <p:cNvSpPr>
            <a:spLocks noGrp="1"/>
          </p:cNvSpPr>
          <p:nvPr>
            <p:ph type="title"/>
          </p:nvPr>
        </p:nvSpPr>
        <p:spPr>
          <a:xfrm>
            <a:off x="725905" y="520616"/>
            <a:ext cx="9220200" cy="778795"/>
          </a:xfrm>
          <a:solidFill>
            <a:srgbClr val="0070C0"/>
          </a:solidFill>
        </p:spPr>
        <p:txBody>
          <a:bodyPr>
            <a:normAutofit/>
          </a:bodyPr>
          <a:lstStyle/>
          <a:p>
            <a:pPr algn="ctr"/>
            <a:r>
              <a:rPr lang="en-US" sz="3200" b="1" dirty="0">
                <a:solidFill>
                  <a:schemeClr val="bg1"/>
                </a:solidFill>
                <a:latin typeface="Arial" panose="020B0604020202020204" pitchFamily="34" charset="0"/>
                <a:cs typeface="Arial" panose="020B0604020202020204" pitchFamily="34" charset="0"/>
              </a:rPr>
              <a:t>CONCLUSION/RECOMMENDATION(S)</a:t>
            </a:r>
          </a:p>
        </p:txBody>
      </p:sp>
      <p:sp>
        <p:nvSpPr>
          <p:cNvPr id="3" name="Content Placeholder 2">
            <a:extLst>
              <a:ext uri="{FF2B5EF4-FFF2-40B4-BE49-F238E27FC236}">
                <a16:creationId xmlns:a16="http://schemas.microsoft.com/office/drawing/2014/main" id="{23FE36D9-3CB8-4B8C-8AEC-3E0E7B2C70FF}"/>
              </a:ext>
            </a:extLst>
          </p:cNvPr>
          <p:cNvSpPr>
            <a:spLocks noGrp="1"/>
          </p:cNvSpPr>
          <p:nvPr>
            <p:ph idx="1"/>
          </p:nvPr>
        </p:nvSpPr>
        <p:spPr>
          <a:xfrm>
            <a:off x="725904" y="1488740"/>
            <a:ext cx="10920663" cy="4847891"/>
          </a:xfrm>
        </p:spPr>
        <p:txBody>
          <a:bodyPr>
            <a:normAutofit/>
          </a:bodyPr>
          <a:lstStyle/>
          <a:p>
            <a:pPr marL="0" indent="0">
              <a:buNone/>
            </a:pPr>
            <a:endParaRPr lang="en-US" b="1" i="1"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The analysis shows that data-driven decision-making can significantly improve business performance. By aligning marketing strategies with customer behavior, optimizing inventory based on real demand, and improving service delivery, the organization can increase revenue, reduce operational costs, and strengthen customer loyalty.</a:t>
            </a:r>
          </a:p>
          <a:p>
            <a:pPr marL="0" indent="0" algn="just">
              <a:lnSpc>
                <a:spcPct val="110000"/>
              </a:lnSpc>
              <a:buNone/>
            </a:pPr>
            <a:endParaRPr lang="en-US" sz="2400" b="1" i="1"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36680006-CFF6-4BB0-AD5D-AD0D6028E67A}"/>
              </a:ext>
            </a:extLst>
          </p:cNvPr>
          <p:cNvSpPr txBox="1"/>
          <p:nvPr/>
        </p:nvSpPr>
        <p:spPr>
          <a:xfrm rot="10800000" flipV="1">
            <a:off x="7000870" y="6356683"/>
            <a:ext cx="3962400" cy="338554"/>
          </a:xfrm>
          <a:prstGeom prst="rect">
            <a:avLst/>
          </a:prstGeom>
          <a:noFill/>
        </p:spPr>
        <p:txBody>
          <a:bodyPr wrap="square" rtlCol="0">
            <a:spAutoFit/>
          </a:bodyPr>
          <a:lstStyle/>
          <a:p>
            <a:pPr algn="just"/>
            <a:r>
              <a:rPr lang="en-US" sz="1600" i="1" dirty="0">
                <a:latin typeface="Arial" panose="020B0604020202020204" pitchFamily="34" charset="0"/>
                <a:cs typeface="Arial" panose="020B0604020202020204" pitchFamily="34" charset="0"/>
              </a:rPr>
              <a:t>Done and Presented by Akan </a:t>
            </a:r>
            <a:r>
              <a:rPr lang="en-US" sz="1600" i="1" dirty="0" err="1">
                <a:latin typeface="Arial" panose="020B0604020202020204" pitchFamily="34" charset="0"/>
                <a:cs typeface="Arial" panose="020B0604020202020204" pitchFamily="34" charset="0"/>
              </a:rPr>
              <a:t>Ukpong</a:t>
            </a:r>
            <a:endParaRPr lang="en-US" sz="1600" i="1" dirty="0">
              <a:latin typeface="Arial" panose="020B0604020202020204" pitchFamily="34" charset="0"/>
              <a:cs typeface="Arial" panose="020B0604020202020204" pitchFamily="34" charset="0"/>
            </a:endParaRPr>
          </a:p>
        </p:txBody>
      </p:sp>
      <p:grpSp>
        <p:nvGrpSpPr>
          <p:cNvPr id="5" name="Group 4">
            <a:extLst>
              <a:ext uri="{FF2B5EF4-FFF2-40B4-BE49-F238E27FC236}">
                <a16:creationId xmlns:a16="http://schemas.microsoft.com/office/drawing/2014/main" id="{B1D6617A-4EA7-4CDD-9BF8-29721E7DB2FA}"/>
              </a:ext>
            </a:extLst>
          </p:cNvPr>
          <p:cNvGrpSpPr/>
          <p:nvPr/>
        </p:nvGrpSpPr>
        <p:grpSpPr>
          <a:xfrm>
            <a:off x="10972119" y="6304547"/>
            <a:ext cx="431477" cy="510215"/>
            <a:chOff x="10331116" y="4140934"/>
            <a:chExt cx="1459831" cy="1598105"/>
          </a:xfrm>
        </p:grpSpPr>
        <p:sp>
          <p:nvSpPr>
            <p:cNvPr id="6" name="Oval 5">
              <a:extLst>
                <a:ext uri="{FF2B5EF4-FFF2-40B4-BE49-F238E27FC236}">
                  <a16:creationId xmlns:a16="http://schemas.microsoft.com/office/drawing/2014/main" id="{4AC57D73-A896-4155-91E0-00F685360EF3}"/>
                </a:ext>
              </a:extLst>
            </p:cNvPr>
            <p:cNvSpPr/>
            <p:nvPr/>
          </p:nvSpPr>
          <p:spPr>
            <a:xfrm>
              <a:off x="10331116" y="4140934"/>
              <a:ext cx="1459831" cy="15981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FB284BE-D3E5-4282-BF4F-8BB796F3A6F5}"/>
                </a:ext>
              </a:extLst>
            </p:cNvPr>
            <p:cNvSpPr/>
            <p:nvPr/>
          </p:nvSpPr>
          <p:spPr>
            <a:xfrm>
              <a:off x="10443409" y="4264302"/>
              <a:ext cx="1267327" cy="1366477"/>
            </a:xfrm>
            <a:prstGeom prst="ellipse">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774654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A32E2FB-66B4-4D4D-93EE-65795C331ACD}"/>
              </a:ext>
            </a:extLst>
          </p:cNvPr>
          <p:cNvSpPr>
            <a:spLocks noGrp="1"/>
          </p:cNvSpPr>
          <p:nvPr>
            <p:ph type="subTitle" idx="1"/>
          </p:nvPr>
        </p:nvSpPr>
        <p:spPr>
          <a:xfrm>
            <a:off x="994611" y="1502232"/>
            <a:ext cx="10764251" cy="4144588"/>
          </a:xfrm>
        </p:spPr>
        <p:txBody>
          <a:bodyPr>
            <a:noAutofit/>
          </a:bodyPr>
          <a:lstStyle/>
          <a:p>
            <a:pPr algn="l">
              <a:lnSpc>
                <a:spcPct val="200000"/>
              </a:lnSpc>
            </a:pPr>
            <a:endParaRPr lang="en-US"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250000"/>
              </a:lnSpc>
              <a:spcBef>
                <a:spcPct val="0"/>
              </a:spcBef>
              <a:spcAft>
                <a:spcPct val="0"/>
              </a:spcAft>
              <a:buClrTx/>
              <a:buSzTx/>
              <a:buFontTx/>
              <a:buChar char="•"/>
              <a:tabLst/>
            </a:pPr>
            <a:r>
              <a:rPr kumimoji="0" lang="en-NG" altLang="en-NG" sz="1800" b="0" i="0" u="none" strike="noStrike" cap="none" normalizeH="0" baseline="0" dirty="0">
                <a:ln>
                  <a:noFill/>
                </a:ln>
                <a:solidFill>
                  <a:schemeClr val="tx1"/>
                </a:solidFill>
                <a:effectLst/>
                <a:latin typeface="Arial" panose="020B0604020202020204" pitchFamily="34" charset="0"/>
              </a:rPr>
              <a:t>PivotTables for trend and performance analysis</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NG" altLang="en-NG" sz="1800" b="0" i="0" u="none" strike="noStrike" cap="none" normalizeH="0" baseline="0" dirty="0">
                <a:ln>
                  <a:noFill/>
                </a:ln>
                <a:solidFill>
                  <a:schemeClr val="tx1"/>
                </a:solidFill>
                <a:effectLst/>
                <a:latin typeface="Arial" panose="020B0604020202020204" pitchFamily="34" charset="0"/>
              </a:rPr>
              <a:t>Power Query for data cleaning</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NG" altLang="en-NG" sz="1800" b="0" i="0" u="none" strike="noStrike" cap="none" normalizeH="0" baseline="0" dirty="0">
                <a:ln>
                  <a:noFill/>
                </a:ln>
                <a:solidFill>
                  <a:schemeClr val="tx1"/>
                </a:solidFill>
                <a:effectLst/>
                <a:latin typeface="Arial" panose="020B0604020202020204" pitchFamily="34" charset="0"/>
              </a:rPr>
              <a:t>KPI calculations (Sales, Quantity, Profit, Repeat purchases)</a:t>
            </a:r>
          </a:p>
          <a:p>
            <a:pPr marL="0" marR="0" lvl="0" indent="0" algn="l" defTabSz="914400" rtl="0" eaLnBrk="0" fontAlgn="base" latinLnBrk="0" hangingPunct="0">
              <a:lnSpc>
                <a:spcPct val="250000"/>
              </a:lnSpc>
              <a:spcBef>
                <a:spcPct val="0"/>
              </a:spcBef>
              <a:spcAft>
                <a:spcPct val="0"/>
              </a:spcAft>
              <a:buClrTx/>
              <a:buSzTx/>
              <a:buFontTx/>
              <a:buChar char="•"/>
              <a:tabLst/>
            </a:pPr>
            <a:r>
              <a:rPr kumimoji="0" lang="en-NG" altLang="en-NG" sz="1800" b="0" i="0" u="none" strike="noStrike" cap="none" normalizeH="0" baseline="0" dirty="0">
                <a:ln>
                  <a:noFill/>
                </a:ln>
                <a:solidFill>
                  <a:schemeClr val="tx1"/>
                </a:solidFill>
                <a:effectLst/>
                <a:latin typeface="Arial" panose="020B0604020202020204" pitchFamily="34" charset="0"/>
              </a:rPr>
              <a:t>Visual analysis through Pivot charts</a:t>
            </a:r>
          </a:p>
          <a:p>
            <a:pPr marL="285750" indent="-285750" algn="just">
              <a:lnSpc>
                <a:spcPct val="100000"/>
              </a:lnSpc>
              <a:buClr>
                <a:schemeClr val="accent1"/>
              </a:buClr>
              <a:buFont typeface="Wingdings" panose="05000000000000000000" pitchFamily="2" charset="2"/>
              <a:buChar char="§"/>
            </a:pPr>
            <a:endParaRPr lang="en-US" sz="18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06BAE0B-6DDB-4BE3-BC80-1876E09EAE67}"/>
              </a:ext>
            </a:extLst>
          </p:cNvPr>
          <p:cNvSpPr txBox="1"/>
          <p:nvPr/>
        </p:nvSpPr>
        <p:spPr>
          <a:xfrm>
            <a:off x="994612" y="417095"/>
            <a:ext cx="7780420" cy="1015663"/>
          </a:xfrm>
          <a:prstGeom prst="rect">
            <a:avLst/>
          </a:prstGeom>
          <a:solidFill>
            <a:schemeClr val="accent1"/>
          </a:solidFill>
        </p:spPr>
        <p:txBody>
          <a:bodyPr wrap="square" rtlCol="0">
            <a:spAutoFit/>
          </a:bodyPr>
          <a:lstStyle/>
          <a:p>
            <a:r>
              <a:rPr lang="en-US" sz="3200" b="1" dirty="0">
                <a:solidFill>
                  <a:schemeClr val="bg1"/>
                </a:solidFill>
                <a:latin typeface="Arial" panose="020B0604020202020204" pitchFamily="34" charset="0"/>
                <a:cs typeface="Arial" panose="020B0604020202020204" pitchFamily="34" charset="0"/>
              </a:rPr>
              <a:t>  </a:t>
            </a:r>
            <a:r>
              <a:rPr lang="en-US" sz="2800" b="1" dirty="0">
                <a:latin typeface="Arial" panose="020B0604020202020204" pitchFamily="34" charset="0"/>
                <a:cs typeface="Arial" panose="020B0604020202020204" pitchFamily="34" charset="0"/>
              </a:rPr>
              <a:t>TOOLS &amp; METHODS USED</a:t>
            </a:r>
            <a:endParaRPr lang="en-US" sz="2400" b="1" dirty="0">
              <a:latin typeface="Arial" panose="020B0604020202020204" pitchFamily="34" charset="0"/>
              <a:cs typeface="Arial" panose="020B0604020202020204" pitchFamily="34" charset="0"/>
            </a:endParaRPr>
          </a:p>
          <a:p>
            <a:endParaRPr lang="en-US" sz="2800" b="1" dirty="0">
              <a:solidFill>
                <a:schemeClr val="bg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69148B2C-9C1F-4743-827D-FD84E2D24B58}"/>
              </a:ext>
            </a:extLst>
          </p:cNvPr>
          <p:cNvSpPr txBox="1"/>
          <p:nvPr/>
        </p:nvSpPr>
        <p:spPr>
          <a:xfrm rot="10800000" flipV="1">
            <a:off x="7603958" y="6306610"/>
            <a:ext cx="3962400" cy="338554"/>
          </a:xfrm>
          <a:prstGeom prst="rect">
            <a:avLst/>
          </a:prstGeom>
          <a:noFill/>
        </p:spPr>
        <p:txBody>
          <a:bodyPr wrap="square" rtlCol="0">
            <a:spAutoFit/>
          </a:bodyPr>
          <a:lstStyle/>
          <a:p>
            <a:pPr algn="just"/>
            <a:r>
              <a:rPr lang="en-US" sz="1600" i="1" dirty="0">
                <a:latin typeface="Arial" panose="020B0604020202020204" pitchFamily="34" charset="0"/>
                <a:cs typeface="Arial" panose="020B0604020202020204" pitchFamily="34" charset="0"/>
              </a:rPr>
              <a:t>Done and Presented by Akan </a:t>
            </a:r>
            <a:r>
              <a:rPr lang="en-US" sz="1600" i="1" dirty="0" err="1">
                <a:latin typeface="Arial" panose="020B0604020202020204" pitchFamily="34" charset="0"/>
                <a:cs typeface="Arial" panose="020B0604020202020204" pitchFamily="34" charset="0"/>
              </a:rPr>
              <a:t>Ukpong</a:t>
            </a:r>
            <a:endParaRPr lang="en-US" sz="1600" i="1" dirty="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851251BB-5905-41E6-99A1-0AE91382D903}"/>
              </a:ext>
            </a:extLst>
          </p:cNvPr>
          <p:cNvGrpSpPr/>
          <p:nvPr/>
        </p:nvGrpSpPr>
        <p:grpSpPr>
          <a:xfrm>
            <a:off x="11350621" y="6237136"/>
            <a:ext cx="431477" cy="510215"/>
            <a:chOff x="10331116" y="4140934"/>
            <a:chExt cx="1459831" cy="1598105"/>
          </a:xfrm>
        </p:grpSpPr>
        <p:sp>
          <p:nvSpPr>
            <p:cNvPr id="10" name="Oval 9">
              <a:extLst>
                <a:ext uri="{FF2B5EF4-FFF2-40B4-BE49-F238E27FC236}">
                  <a16:creationId xmlns:a16="http://schemas.microsoft.com/office/drawing/2014/main" id="{5C7D2D33-690F-4D44-BE6A-372EC7A285E0}"/>
                </a:ext>
              </a:extLst>
            </p:cNvPr>
            <p:cNvSpPr/>
            <p:nvPr/>
          </p:nvSpPr>
          <p:spPr>
            <a:xfrm>
              <a:off x="10331116" y="4140934"/>
              <a:ext cx="1459831" cy="159810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62732164-7497-4C2A-A416-D705DC15AFC4}"/>
                </a:ext>
              </a:extLst>
            </p:cNvPr>
            <p:cNvSpPr/>
            <p:nvPr/>
          </p:nvSpPr>
          <p:spPr>
            <a:xfrm>
              <a:off x="10443409" y="4264302"/>
              <a:ext cx="1267327" cy="1366477"/>
            </a:xfrm>
            <a:prstGeom prst="ellipse">
              <a:avLst/>
            </a:prstGeom>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507675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826</TotalTime>
  <Words>922</Words>
  <Application>Microsoft Office PowerPoint</Application>
  <PresentationFormat>Widescreen</PresentationFormat>
  <Paragraphs>100</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Wingdings</vt:lpstr>
      <vt:lpstr>Office Theme</vt:lpstr>
      <vt:lpstr>ONLINE SALES ANALYSIS </vt:lpstr>
      <vt:lpstr>TABLE OF CONTENT</vt:lpstr>
      <vt:lpstr>PROJECT SCHEDULE: ABOUT THE PROJECT</vt:lpstr>
      <vt:lpstr>PROJECT TIMELINE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CONCLUSION/RECOMMENDATION(S)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ZINOX</dc:creator>
  <cp:lastModifiedBy>USER</cp:lastModifiedBy>
  <cp:revision>83</cp:revision>
  <dcterms:created xsi:type="dcterms:W3CDTF">2024-10-11T08:48:53Z</dcterms:created>
  <dcterms:modified xsi:type="dcterms:W3CDTF">2026-01-25T19:47:19Z</dcterms:modified>
</cp:coreProperties>
</file>